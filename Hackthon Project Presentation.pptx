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libri (MS)" charset="1" panose="020F0502020204030204"/>
      <p:regular r:id="rId22"/>
    </p:embeddedFont>
    <p:embeddedFont>
      <p:font typeface="Times New Roman Bold" charset="1" panose="02020803070505020304"/>
      <p:regular r:id="rId26"/>
    </p:embeddedFont>
    <p:embeddedFont>
      <p:font typeface="Arial" charset="1" panose="020B0604020202020204"/>
      <p:regular r:id="rId27"/>
    </p:embeddedFont>
    <p:embeddedFont>
      <p:font typeface="Calibri (MS) Bold" charset="1" panose="020F0702030404030204"/>
      <p:regular r:id="rId28"/>
    </p:embeddedFont>
    <p:embeddedFont>
      <p:font typeface="Arimo" charset="1" panose="020B0604020202020204"/>
      <p:regular r:id="rId29"/>
    </p:embeddedFont>
    <p:embeddedFont>
      <p:font typeface="Arial Bold" charset="1" panose="020B0704020202020204"/>
      <p:regular r:id="rId31"/>
    </p:embeddedFont>
    <p:embeddedFont>
      <p:font typeface="Canva Sans Bold" charset="1" panose="020B0803030501040103"/>
      <p:regular r:id="rId37"/>
    </p:embeddedFont>
    <p:embeddedFont>
      <p:font typeface="Canva Sans" charset="1" panose="020B0503030501040103"/>
      <p:regular r:id="rId38"/>
    </p:embeddedFont>
    <p:embeddedFont>
      <p:font typeface="Times New Roman" charset="1" panose="02020603050405020304"/>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fonts/font31.fntdata" Type="http://schemas.openxmlformats.org/officeDocument/2006/relationships/font"/><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fonts/font37.fntdata" Type="http://schemas.openxmlformats.org/officeDocument/2006/relationships/font"/><Relationship Id="rId38" Target="fonts/font38.fntdata" Type="http://schemas.openxmlformats.org/officeDocument/2006/relationships/font"/><Relationship Id="rId39" Target="notesSlides/notesSlide8.xml" Type="http://schemas.openxmlformats.org/officeDocument/2006/relationships/notesSlide"/><Relationship Id="rId4" Target="theme/theme1.xml" Type="http://schemas.openxmlformats.org/officeDocument/2006/relationships/theme"/><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fonts/font46.fntdata" Type="http://schemas.openxmlformats.org/officeDocument/2006/relationships/font"/><Relationship Id="rId47"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0.png" Type="http://schemas.openxmlformats.org/officeDocument/2006/relationships/image"/><Relationship Id="rId4"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1.png" Type="http://schemas.openxmlformats.org/officeDocument/2006/relationships/image"/><Relationship Id="rId4"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https://github.com/Shreeharshahegde0203/AI-Assisted-Precision-Irrigation-Monitoring-System"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https://nwm.gov.in" TargetMode="External" Type="http://schemas.openxmlformats.org/officeDocument/2006/relationships/hyperlink"/><Relationship Id="rId5" Target="https://cwc.gov.in" TargetMode="External" Type="http://schemas.openxmlformats.org/officeDocument/2006/relationships/hyperlink"/><Relationship Id="rId6" Target="https://mausam.imd.gov.in" TargetMode="External" Type="http://schemas.openxmlformats.org/officeDocument/2006/relationships/hyperlink"/><Relationship Id="rId7" Target="https://www.watershedindia.org"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2.png" Type="http://schemas.openxmlformats.org/officeDocument/2006/relationships/image"/><Relationship Id="rId4"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7775" y="872376"/>
            <a:ext cx="15773400" cy="4279106"/>
            <a:chOff x="0" y="0"/>
            <a:chExt cx="21031200" cy="5705475"/>
          </a:xfrm>
        </p:grpSpPr>
        <p:sp>
          <p:nvSpPr>
            <p:cNvPr name="Freeform 3" id="3"/>
            <p:cNvSpPr/>
            <p:nvPr/>
          </p:nvSpPr>
          <p:spPr>
            <a:xfrm flipH="false" flipV="false" rot="0">
              <a:off x="0" y="0"/>
              <a:ext cx="21031200" cy="5705474"/>
            </a:xfrm>
            <a:custGeom>
              <a:avLst/>
              <a:gdLst/>
              <a:ahLst/>
              <a:cxnLst/>
              <a:rect r="r" b="b" t="t" l="l"/>
              <a:pathLst>
                <a:path h="5705474" w="21031200">
                  <a:moveTo>
                    <a:pt x="0" y="0"/>
                  </a:moveTo>
                  <a:lnTo>
                    <a:pt x="21031200" y="0"/>
                  </a:lnTo>
                  <a:lnTo>
                    <a:pt x="21031200" y="5705474"/>
                  </a:lnTo>
                  <a:lnTo>
                    <a:pt x="0" y="5705474"/>
                  </a:lnTo>
                  <a:close/>
                </a:path>
              </a:pathLst>
            </a:custGeom>
            <a:solidFill>
              <a:srgbClr val="000000">
                <a:alpha val="0"/>
              </a:srgbClr>
            </a:solidFill>
            <a:ln w="12700">
              <a:solidFill>
                <a:srgbClr val="000000"/>
              </a:solidFill>
            </a:ln>
          </p:spPr>
        </p:sp>
        <p:sp>
          <p:nvSpPr>
            <p:cNvPr name="TextBox 4" id="4"/>
            <p:cNvSpPr txBox="true"/>
            <p:nvPr/>
          </p:nvSpPr>
          <p:spPr>
            <a:xfrm>
              <a:off x="0" y="-85725"/>
              <a:ext cx="21031200" cy="5791200"/>
            </a:xfrm>
            <a:prstGeom prst="rect">
              <a:avLst/>
            </a:prstGeom>
          </p:spPr>
          <p:txBody>
            <a:bodyPr anchor="b" rtlCol="false" tIns="0" lIns="0" bIns="0" rIns="0"/>
            <a:lstStyle/>
            <a:p>
              <a:pPr algn="ctr">
                <a:lnSpc>
                  <a:spcPts val="9720"/>
                </a:lnSpc>
              </a:pPr>
              <a:r>
                <a:rPr lang="en-US" sz="9000">
                  <a:solidFill>
                    <a:srgbClr val="000000"/>
                  </a:solidFill>
                  <a:latin typeface="Calibri (MS)"/>
                  <a:ea typeface="Calibri (MS)"/>
                  <a:cs typeface="Calibri (MS)"/>
                  <a:sym typeface="Calibri (MS)"/>
                </a:rPr>
                <a:t>Agentic AI Hackathon: Building Intelligent Agents with IBM Granite and LangFlow</a:t>
              </a:r>
            </a:p>
          </p:txBody>
        </p:sp>
      </p:grpSp>
      <p:grpSp>
        <p:nvGrpSpPr>
          <p:cNvPr name="Group 5" id="5"/>
          <p:cNvGrpSpPr/>
          <p:nvPr/>
        </p:nvGrpSpPr>
        <p:grpSpPr>
          <a:xfrm rot="0">
            <a:off x="539252" y="9483935"/>
            <a:ext cx="17245047" cy="454421"/>
            <a:chOff x="0" y="0"/>
            <a:chExt cx="23532577" cy="620103"/>
          </a:xfrm>
        </p:grpSpPr>
        <p:sp>
          <p:nvSpPr>
            <p:cNvPr name="Freeform 6" id="6"/>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2"/>
              <a:stretch>
                <a:fillRect l="0" t="-264" r="0" b="-258"/>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84607" y="1248801"/>
            <a:ext cx="10952588" cy="1049951"/>
            <a:chOff x="0" y="0"/>
            <a:chExt cx="14603451" cy="1399934"/>
          </a:xfrm>
        </p:grpSpPr>
        <p:sp>
          <p:nvSpPr>
            <p:cNvPr name="Freeform 3" id="3"/>
            <p:cNvSpPr/>
            <p:nvPr/>
          </p:nvSpPr>
          <p:spPr>
            <a:xfrm flipH="false" flipV="false" rot="0">
              <a:off x="0" y="0"/>
              <a:ext cx="14603456" cy="1399939"/>
            </a:xfrm>
            <a:custGeom>
              <a:avLst/>
              <a:gdLst/>
              <a:ahLst/>
              <a:cxnLst/>
              <a:rect r="r" b="b" t="t" l="l"/>
              <a:pathLst>
                <a:path h="1399939" w="14603456">
                  <a:moveTo>
                    <a:pt x="0" y="0"/>
                  </a:moveTo>
                  <a:lnTo>
                    <a:pt x="14603456" y="0"/>
                  </a:lnTo>
                  <a:lnTo>
                    <a:pt x="14603456" y="1399939"/>
                  </a:lnTo>
                  <a:lnTo>
                    <a:pt x="0" y="1399939"/>
                  </a:lnTo>
                  <a:close/>
                </a:path>
              </a:pathLst>
            </a:custGeom>
            <a:solidFill>
              <a:srgbClr val="000000">
                <a:alpha val="0"/>
              </a:srgbClr>
            </a:solidFill>
            <a:ln w="12700">
              <a:solidFill>
                <a:srgbClr val="000000"/>
              </a:solidFill>
            </a:ln>
          </p:spPr>
        </p:sp>
        <p:sp>
          <p:nvSpPr>
            <p:cNvPr name="TextBox 4" id="4"/>
            <p:cNvSpPr txBox="true"/>
            <p:nvPr/>
          </p:nvSpPr>
          <p:spPr>
            <a:xfrm>
              <a:off x="0" y="28575"/>
              <a:ext cx="14603451" cy="1371359"/>
            </a:xfrm>
            <a:prstGeom prst="rect">
              <a:avLst/>
            </a:prstGeom>
          </p:spPr>
          <p:txBody>
            <a:bodyPr anchor="ctr" rtlCol="false" tIns="0" lIns="0" bIns="0" rIns="0"/>
            <a:lstStyle/>
            <a:p>
              <a:pPr algn="ctr">
                <a:lnSpc>
                  <a:spcPts val="5670"/>
                </a:lnSpc>
              </a:pPr>
              <a:r>
                <a:rPr lang="en-US" b="true" sz="5250">
                  <a:solidFill>
                    <a:srgbClr val="002060"/>
                  </a:solidFill>
                  <a:latin typeface="Times New Roman Bold"/>
                  <a:ea typeface="Times New Roman Bold"/>
                  <a:cs typeface="Times New Roman Bold"/>
                  <a:sym typeface="Times New Roman Bold"/>
                </a:rPr>
                <a:t>Team name</a:t>
              </a:r>
              <a:r>
                <a:rPr lang="en-US" b="true" sz="5250">
                  <a:solidFill>
                    <a:srgbClr val="002060"/>
                  </a:solidFill>
                  <a:latin typeface="Times New Roman Bold"/>
                  <a:ea typeface="Times New Roman Bold"/>
                  <a:cs typeface="Times New Roman Bold"/>
                  <a:sym typeface="Times New Roman Bold"/>
                </a:rPr>
                <a:t>:  </a:t>
              </a:r>
              <a:r>
                <a:rPr lang="en-US" b="true" sz="5250">
                  <a:solidFill>
                    <a:srgbClr val="1F3864"/>
                  </a:solidFill>
                  <a:latin typeface="Times New Roman Bold"/>
                  <a:ea typeface="Times New Roman Bold"/>
                  <a:cs typeface="Times New Roman Bold"/>
                  <a:sym typeface="Times New Roman Bold"/>
                </a:rPr>
                <a:t>AgroSense</a:t>
              </a:r>
            </a:p>
          </p:txBody>
        </p:sp>
      </p:grpSp>
      <p:graphicFrame>
        <p:nvGraphicFramePr>
          <p:cNvPr name="Table 5" id="5"/>
          <p:cNvGraphicFramePr>
            <a:graphicFrameLocks noGrp="true"/>
          </p:cNvGraphicFramePr>
          <p:nvPr/>
        </p:nvGraphicFramePr>
        <p:xfrm>
          <a:off x="2395278" y="2913038"/>
          <a:ext cx="11560200" cy="6345125"/>
        </p:xfrm>
        <a:graphic>
          <a:graphicData uri="http://schemas.openxmlformats.org/drawingml/2006/table">
            <a:tbl>
              <a:tblPr/>
              <a:tblGrid>
                <a:gridCol w="2386700"/>
                <a:gridCol w="2817319"/>
                <a:gridCol w="3342077"/>
                <a:gridCol w="3014103"/>
              </a:tblGrid>
              <a:tr h="1593865">
                <a:tc>
                  <a:txBody>
                    <a:bodyPr anchor="t" rtlCol="false"/>
                    <a:lstStyle/>
                    <a:p>
                      <a:pPr algn="ctr">
                        <a:lnSpc>
                          <a:spcPts val="3240"/>
                        </a:lnSpc>
                        <a:defRPr/>
                      </a:pPr>
                      <a:r>
                        <a:rPr lang="en-US" sz="2700">
                          <a:solidFill>
                            <a:srgbClr val="000000"/>
                          </a:solidFill>
                          <a:latin typeface="Arial"/>
                          <a:ea typeface="Arial"/>
                          <a:cs typeface="Arial"/>
                          <a:sym typeface="Arial"/>
                        </a:rPr>
                        <a:t>TEAM MEMBER NAME</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Recent Passport Photo</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b="true" sz="2700">
                          <a:solidFill>
                            <a:srgbClr val="FFFFFF"/>
                          </a:solidFill>
                          <a:latin typeface="Calibri (MS) Bold"/>
                          <a:ea typeface="Calibri (MS) Bold"/>
                          <a:cs typeface="Calibri (MS) Bold"/>
                          <a:sym typeface="Calibri (MS) Bold"/>
                        </a:rPr>
                        <a:t>Email ID </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b="true" sz="2700">
                          <a:solidFill>
                            <a:srgbClr val="FFFFFF"/>
                          </a:solidFill>
                          <a:latin typeface="Calibri (MS) Bold"/>
                          <a:ea typeface="Calibri (MS) Bold"/>
                          <a:cs typeface="Calibri (MS) Bold"/>
                          <a:sym typeface="Calibri (MS) Bold"/>
                        </a:rPr>
                        <a:t>Phone number</a:t>
                      </a:r>
                      <a:endParaRPr lang="en-US" sz="1100"/>
                    </a:p>
                    <a:p>
                      <a:pPr algn="ctr">
                        <a:lnSpc>
                          <a:spcPts val="3240"/>
                        </a:lnSpc>
                      </a:pPr>
                      <a:r>
                        <a:rPr lang="en-US" b="true" sz="2700">
                          <a:solidFill>
                            <a:srgbClr val="FFFFFF"/>
                          </a:solidFill>
                          <a:latin typeface="Calibri (MS) Bold"/>
                          <a:ea typeface="Calibri (MS) Bold"/>
                          <a:cs typeface="Calibri (MS) Bold"/>
                          <a:sym typeface="Calibri (MS) Bold"/>
                        </a:rPr>
                        <a:t>[WhatsApp] </a:t>
                      </a:r>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r>
              <a:tr h="1468543">
                <a:tc>
                  <a:txBody>
                    <a:bodyPr anchor="t" rtlCol="false"/>
                    <a:lstStyle/>
                    <a:p>
                      <a:pPr algn="ctr">
                        <a:lnSpc>
                          <a:spcPts val="2239"/>
                        </a:lnSpc>
                        <a:defRPr/>
                      </a:pPr>
                      <a:r>
                        <a:rPr lang="en-US" sz="1599">
                          <a:solidFill>
                            <a:srgbClr val="000000"/>
                          </a:solidFill>
                          <a:latin typeface="Arimo"/>
                          <a:ea typeface="Arimo"/>
                          <a:cs typeface="Arimo"/>
                          <a:sym typeface="Arimo"/>
                        </a:rPr>
                        <a:t>Sreeharsha G Hegde </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1679"/>
                        </a:lnSpc>
                        <a:defRPr/>
                      </a:pP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2239"/>
                        </a:lnSpc>
                        <a:defRPr/>
                      </a:pPr>
                      <a:r>
                        <a:rPr lang="en-US" sz="1599">
                          <a:solidFill>
                            <a:srgbClr val="000000"/>
                          </a:solidFill>
                          <a:latin typeface="Arimo"/>
                          <a:ea typeface="Arimo"/>
                          <a:cs typeface="Arimo"/>
                          <a:sym typeface="Arimo"/>
                        </a:rPr>
                        <a:t>sreeharsha.bs23@bmsce.ac.in</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FF7"/>
                    </a:solidFill>
                  </a:tcPr>
                </a:tc>
                <a:tc>
                  <a:txBody>
                    <a:bodyPr anchor="t" rtlCol="false"/>
                    <a:lstStyle/>
                    <a:p>
                      <a:pPr algn="ctr">
                        <a:lnSpc>
                          <a:spcPts val="2239"/>
                        </a:lnSpc>
                        <a:defRPr/>
                      </a:pPr>
                      <a:r>
                        <a:rPr lang="en-US" sz="1599">
                          <a:solidFill>
                            <a:srgbClr val="000000"/>
                          </a:solidFill>
                          <a:latin typeface="Arimo"/>
                          <a:ea typeface="Arimo"/>
                          <a:cs typeface="Arimo"/>
                          <a:sym typeface="Arimo"/>
                        </a:rPr>
                        <a:t>87623 28948</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FF7"/>
                    </a:solidFill>
                  </a:tcPr>
                </a:tc>
              </a:tr>
              <a:tr h="1688047">
                <a:tc>
                  <a:txBody>
                    <a:bodyPr anchor="t" rtlCol="false"/>
                    <a:lstStyle/>
                    <a:p>
                      <a:pPr algn="ctr">
                        <a:lnSpc>
                          <a:spcPts val="2239"/>
                        </a:lnSpc>
                        <a:defRPr/>
                      </a:pPr>
                      <a:r>
                        <a:rPr lang="en-US" sz="1599">
                          <a:solidFill>
                            <a:srgbClr val="000000"/>
                          </a:solidFill>
                          <a:latin typeface="Arimo"/>
                          <a:ea typeface="Arimo"/>
                          <a:cs typeface="Arimo"/>
                          <a:sym typeface="Arimo"/>
                        </a:rPr>
                        <a:t>Vishwas Kumar S S</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1679"/>
                        </a:lnSpc>
                        <a:defRPr/>
                      </a:pP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FF7"/>
                    </a:solidFill>
                  </a:tcPr>
                </a:tc>
                <a:tc>
                  <a:txBody>
                    <a:bodyPr anchor="t" rtlCol="false"/>
                    <a:lstStyle/>
                    <a:p>
                      <a:pPr algn="l">
                        <a:lnSpc>
                          <a:spcPts val="2239"/>
                        </a:lnSpc>
                        <a:defRPr/>
                      </a:pPr>
                      <a:r>
                        <a:rPr lang="en-US" sz="1599">
                          <a:solidFill>
                            <a:srgbClr val="000000"/>
                          </a:solidFill>
                          <a:latin typeface="Arimo"/>
                          <a:ea typeface="Arimo"/>
                          <a:cs typeface="Arimo"/>
                          <a:sym typeface="Arimo"/>
                        </a:rPr>
                        <a:t>vishwaskumar.bs23@bmsce.ac.in</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FF7"/>
                    </a:solidFill>
                  </a:tcPr>
                </a:tc>
                <a:tc>
                  <a:txBody>
                    <a:bodyPr anchor="t" rtlCol="false"/>
                    <a:lstStyle/>
                    <a:p>
                      <a:pPr algn="ctr">
                        <a:lnSpc>
                          <a:spcPts val="2239"/>
                        </a:lnSpc>
                        <a:defRPr/>
                      </a:pPr>
                      <a:r>
                        <a:rPr lang="en-US" sz="1599">
                          <a:solidFill>
                            <a:srgbClr val="000000"/>
                          </a:solidFill>
                          <a:latin typeface="Arimo"/>
                          <a:ea typeface="Arimo"/>
                          <a:cs typeface="Arimo"/>
                          <a:sym typeface="Arimo"/>
                        </a:rPr>
                        <a:t>9448762046</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FF7"/>
                    </a:solidFill>
                  </a:tcPr>
                </a:tc>
              </a:tr>
              <a:tr h="1594670">
                <a:tc>
                  <a:txBody>
                    <a:bodyPr anchor="t" rtlCol="false"/>
                    <a:lstStyle/>
                    <a:p>
                      <a:pPr algn="ctr">
                        <a:lnSpc>
                          <a:spcPts val="2239"/>
                        </a:lnSpc>
                        <a:defRPr/>
                      </a:pPr>
                      <a:r>
                        <a:rPr lang="en-US" sz="1599">
                          <a:solidFill>
                            <a:srgbClr val="000000"/>
                          </a:solidFill>
                          <a:latin typeface="Arimo"/>
                          <a:ea typeface="Arimo"/>
                          <a:cs typeface="Arimo"/>
                          <a:sym typeface="Arimo"/>
                        </a:rPr>
                        <a:t>Kousthubha L Rao</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1679"/>
                        </a:lnSpc>
                        <a:defRPr/>
                      </a:pP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2239"/>
                        </a:lnSpc>
                        <a:defRPr/>
                      </a:pPr>
                      <a:r>
                        <a:rPr lang="en-US" sz="1599">
                          <a:solidFill>
                            <a:srgbClr val="000000"/>
                          </a:solidFill>
                          <a:latin typeface="Arimo"/>
                          <a:ea typeface="Arimo"/>
                          <a:cs typeface="Arimo"/>
                          <a:sym typeface="Arimo"/>
                        </a:rPr>
                        <a:t>kousthubhal.bs23@bmsce.ac.in</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FF7"/>
                    </a:solidFill>
                  </a:tcPr>
                </a:tc>
                <a:tc>
                  <a:txBody>
                    <a:bodyPr anchor="t" rtlCol="false"/>
                    <a:lstStyle/>
                    <a:p>
                      <a:pPr algn="ctr" marL="0" indent="0" lvl="0">
                        <a:lnSpc>
                          <a:spcPts val="2239"/>
                        </a:lnSpc>
                        <a:spcBef>
                          <a:spcPct val="0"/>
                        </a:spcBef>
                        <a:defRPr/>
                      </a:pPr>
                      <a:r>
                        <a:rPr lang="en-US" sz="1599" strike="noStrike" u="none">
                          <a:solidFill>
                            <a:srgbClr val="000000"/>
                          </a:solidFill>
                          <a:latin typeface="Arimo"/>
                          <a:ea typeface="Arimo"/>
                          <a:cs typeface="Arimo"/>
                          <a:sym typeface="Arimo"/>
                        </a:rPr>
                        <a:t>93535 49005</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FF7"/>
                    </a:solidFill>
                  </a:tcPr>
                </a:tc>
              </a:tr>
            </a:tbl>
          </a:graphicData>
        </a:graphic>
      </p:graphicFrame>
      <p:grpSp>
        <p:nvGrpSpPr>
          <p:cNvPr name="Group 6" id="6"/>
          <p:cNvGrpSpPr/>
          <p:nvPr/>
        </p:nvGrpSpPr>
        <p:grpSpPr>
          <a:xfrm rot="0">
            <a:off x="5714248" y="7728716"/>
            <a:ext cx="1149210" cy="1435922"/>
            <a:chOff x="0" y="0"/>
            <a:chExt cx="1532280" cy="1914563"/>
          </a:xfrm>
        </p:grpSpPr>
        <p:sp>
          <p:nvSpPr>
            <p:cNvPr name="Freeform 7" id="7"/>
            <p:cNvSpPr/>
            <p:nvPr/>
          </p:nvSpPr>
          <p:spPr>
            <a:xfrm flipH="false" flipV="false" rot="0">
              <a:off x="0" y="0"/>
              <a:ext cx="1532255" cy="1914525"/>
            </a:xfrm>
            <a:custGeom>
              <a:avLst/>
              <a:gdLst/>
              <a:ahLst/>
              <a:cxnLst/>
              <a:rect r="r" b="b" t="t" l="l"/>
              <a:pathLst>
                <a:path h="1914525" w="1532255">
                  <a:moveTo>
                    <a:pt x="0" y="0"/>
                  </a:moveTo>
                  <a:lnTo>
                    <a:pt x="1532255" y="0"/>
                  </a:lnTo>
                  <a:lnTo>
                    <a:pt x="1532255" y="1914525"/>
                  </a:lnTo>
                  <a:lnTo>
                    <a:pt x="0" y="1914525"/>
                  </a:lnTo>
                  <a:lnTo>
                    <a:pt x="0" y="0"/>
                  </a:lnTo>
                  <a:close/>
                </a:path>
              </a:pathLst>
            </a:custGeom>
            <a:blipFill>
              <a:blip r:embed="rId3"/>
              <a:stretch>
                <a:fillRect l="0" t="-976" r="0" b="-976"/>
              </a:stretch>
            </a:blipFill>
          </p:spPr>
        </p:sp>
      </p:grpSp>
      <p:grpSp>
        <p:nvGrpSpPr>
          <p:cNvPr name="Group 8" id="8"/>
          <p:cNvGrpSpPr/>
          <p:nvPr/>
        </p:nvGrpSpPr>
        <p:grpSpPr>
          <a:xfrm rot="0">
            <a:off x="5714248" y="6179262"/>
            <a:ext cx="1149210" cy="1387530"/>
            <a:chOff x="0" y="0"/>
            <a:chExt cx="1738884" cy="2099488"/>
          </a:xfrm>
        </p:grpSpPr>
        <p:sp>
          <p:nvSpPr>
            <p:cNvPr name="Freeform 9" id="9"/>
            <p:cNvSpPr/>
            <p:nvPr/>
          </p:nvSpPr>
          <p:spPr>
            <a:xfrm flipH="false" flipV="false" rot="0">
              <a:off x="0" y="0"/>
              <a:ext cx="1738884" cy="2099437"/>
            </a:xfrm>
            <a:custGeom>
              <a:avLst/>
              <a:gdLst/>
              <a:ahLst/>
              <a:cxnLst/>
              <a:rect r="r" b="b" t="t" l="l"/>
              <a:pathLst>
                <a:path h="2099437" w="1738884">
                  <a:moveTo>
                    <a:pt x="0" y="0"/>
                  </a:moveTo>
                  <a:lnTo>
                    <a:pt x="1738884" y="0"/>
                  </a:lnTo>
                  <a:lnTo>
                    <a:pt x="1738884" y="2099437"/>
                  </a:lnTo>
                  <a:lnTo>
                    <a:pt x="0" y="2099437"/>
                  </a:lnTo>
                  <a:lnTo>
                    <a:pt x="0" y="0"/>
                  </a:lnTo>
                  <a:close/>
                </a:path>
              </a:pathLst>
            </a:custGeom>
            <a:blipFill>
              <a:blip r:embed="rId4"/>
              <a:stretch>
                <a:fillRect l="-46128" t="-13478" r="-32414" b="-83695"/>
              </a:stretch>
            </a:blipFill>
          </p:spPr>
        </p:sp>
      </p:grpSp>
      <p:grpSp>
        <p:nvGrpSpPr>
          <p:cNvPr name="Group 10" id="10"/>
          <p:cNvGrpSpPr/>
          <p:nvPr/>
        </p:nvGrpSpPr>
        <p:grpSpPr>
          <a:xfrm rot="0">
            <a:off x="5714248" y="4487753"/>
            <a:ext cx="1149210" cy="1435922"/>
            <a:chOff x="0" y="0"/>
            <a:chExt cx="1532280" cy="1914563"/>
          </a:xfrm>
        </p:grpSpPr>
        <p:sp>
          <p:nvSpPr>
            <p:cNvPr name="Freeform 11" id="11"/>
            <p:cNvSpPr/>
            <p:nvPr/>
          </p:nvSpPr>
          <p:spPr>
            <a:xfrm flipH="false" flipV="false" rot="0">
              <a:off x="0" y="0"/>
              <a:ext cx="1532255" cy="1914525"/>
            </a:xfrm>
            <a:custGeom>
              <a:avLst/>
              <a:gdLst/>
              <a:ahLst/>
              <a:cxnLst/>
              <a:rect r="r" b="b" t="t" l="l"/>
              <a:pathLst>
                <a:path h="1914525" w="1532255">
                  <a:moveTo>
                    <a:pt x="0" y="0"/>
                  </a:moveTo>
                  <a:lnTo>
                    <a:pt x="1532255" y="0"/>
                  </a:lnTo>
                  <a:lnTo>
                    <a:pt x="1532255" y="1914525"/>
                  </a:lnTo>
                  <a:lnTo>
                    <a:pt x="0" y="1914525"/>
                  </a:lnTo>
                  <a:lnTo>
                    <a:pt x="0" y="0"/>
                  </a:lnTo>
                  <a:close/>
                </a:path>
              </a:pathLst>
            </a:custGeom>
            <a:blipFill>
              <a:blip r:embed="rId5"/>
              <a:stretch>
                <a:fillRect l="-5836" t="0" r="-5836" b="0"/>
              </a:stretch>
            </a:blipFill>
          </p:spPr>
        </p:sp>
      </p:grpSp>
      <p:grpSp>
        <p:nvGrpSpPr>
          <p:cNvPr name="Group 12" id="12"/>
          <p:cNvGrpSpPr/>
          <p:nvPr/>
        </p:nvGrpSpPr>
        <p:grpSpPr>
          <a:xfrm rot="0">
            <a:off x="539252" y="9483935"/>
            <a:ext cx="17245047" cy="454421"/>
            <a:chOff x="0" y="0"/>
            <a:chExt cx="23532577" cy="620103"/>
          </a:xfrm>
        </p:grpSpPr>
        <p:sp>
          <p:nvSpPr>
            <p:cNvPr name="Freeform 13" id="13"/>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6"/>
              <a:stretch>
                <a:fillRect l="0" t="-264" r="0" b="-258"/>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9252" y="9483935"/>
            <a:ext cx="17245047" cy="454421"/>
            <a:chOff x="0" y="0"/>
            <a:chExt cx="23532577" cy="620103"/>
          </a:xfrm>
        </p:grpSpPr>
        <p:sp>
          <p:nvSpPr>
            <p:cNvPr name="Freeform 3" id="3"/>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3"/>
              <a:stretch>
                <a:fillRect l="0" t="-264" r="0" b="-258"/>
              </a:stretch>
            </a:blipFill>
          </p:spPr>
        </p:sp>
      </p:grpSp>
      <p:sp>
        <p:nvSpPr>
          <p:cNvPr name="Freeform 4" id="4"/>
          <p:cNvSpPr/>
          <p:nvPr/>
        </p:nvSpPr>
        <p:spPr>
          <a:xfrm flipH="false" flipV="false" rot="0">
            <a:off x="6010001" y="4712174"/>
            <a:ext cx="3796210" cy="4114800"/>
          </a:xfrm>
          <a:custGeom>
            <a:avLst/>
            <a:gdLst/>
            <a:ahLst/>
            <a:cxnLst/>
            <a:rect r="r" b="b" t="t" l="l"/>
            <a:pathLst>
              <a:path h="4114800" w="3796210">
                <a:moveTo>
                  <a:pt x="0" y="0"/>
                </a:moveTo>
                <a:lnTo>
                  <a:pt x="3796210" y="0"/>
                </a:lnTo>
                <a:lnTo>
                  <a:pt x="379621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1972207"/>
            <a:ext cx="13437558" cy="2350770"/>
          </a:xfrm>
          <a:prstGeom prst="rect">
            <a:avLst/>
          </a:prstGeom>
        </p:spPr>
        <p:txBody>
          <a:bodyPr anchor="t" rtlCol="false" tIns="0" lIns="0" bIns="0" rIns="0">
            <a:spAutoFit/>
          </a:bodyPr>
          <a:lstStyle/>
          <a:p>
            <a:pPr algn="just">
              <a:lnSpc>
                <a:spcPts val="3119"/>
              </a:lnSpc>
            </a:pPr>
            <a:r>
              <a:rPr lang="en-US" sz="2399">
                <a:solidFill>
                  <a:srgbClr val="000000"/>
                </a:solidFill>
                <a:latin typeface="Arial"/>
                <a:ea typeface="Arial"/>
                <a:cs typeface="Arial"/>
                <a:sym typeface="Arial"/>
              </a:rPr>
              <a:t>I</a:t>
            </a:r>
            <a:r>
              <a:rPr lang="en-US" sz="2399">
                <a:solidFill>
                  <a:srgbClr val="000000"/>
                </a:solidFill>
                <a:latin typeface="Arial"/>
                <a:ea typeface="Arial"/>
                <a:cs typeface="Arial"/>
                <a:sym typeface="Arial"/>
              </a:rPr>
              <a:t>nefficient irrigation practices lead to water wastage, crop stress, and reduced productivity. Farmers often lack continuous insights into soil moisture dynamics and crop water requirements. Manual irrigation decisions may not adapt to changing weather and soil conditions. There is a need for an intelligent assistive system that can analyze irrigation-related data and support water-efficient farming practices.</a:t>
            </a:r>
          </a:p>
          <a:p>
            <a:pPr algn="just">
              <a:lnSpc>
                <a:spcPts val="3119"/>
              </a:lnSpc>
            </a:pPr>
          </a:p>
        </p:txBody>
      </p:sp>
      <p:sp>
        <p:nvSpPr>
          <p:cNvPr name="TextBox 6" id="6"/>
          <p:cNvSpPr txBox="true"/>
          <p:nvPr/>
        </p:nvSpPr>
        <p:spPr>
          <a:xfrm rot="0">
            <a:off x="1028700" y="1000125"/>
            <a:ext cx="4657382"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Problem statement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9252" y="9483935"/>
            <a:ext cx="17245047" cy="454421"/>
            <a:chOff x="0" y="0"/>
            <a:chExt cx="23532577" cy="620103"/>
          </a:xfrm>
        </p:grpSpPr>
        <p:sp>
          <p:nvSpPr>
            <p:cNvPr name="Freeform 3" id="3"/>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3"/>
              <a:stretch>
                <a:fillRect l="0" t="-264" r="0" b="-258"/>
              </a:stretch>
            </a:blipFill>
          </p:spPr>
        </p:sp>
      </p:grpSp>
      <p:sp>
        <p:nvSpPr>
          <p:cNvPr name="Freeform 4" id="4"/>
          <p:cNvSpPr/>
          <p:nvPr/>
        </p:nvSpPr>
        <p:spPr>
          <a:xfrm flipH="false" flipV="false" rot="0">
            <a:off x="9876805" y="1629756"/>
            <a:ext cx="6775879" cy="6356836"/>
          </a:xfrm>
          <a:custGeom>
            <a:avLst/>
            <a:gdLst/>
            <a:ahLst/>
            <a:cxnLst/>
            <a:rect r="r" b="b" t="t" l="l"/>
            <a:pathLst>
              <a:path h="6356836" w="6775879">
                <a:moveTo>
                  <a:pt x="0" y="0"/>
                </a:moveTo>
                <a:lnTo>
                  <a:pt x="6775880" y="0"/>
                </a:lnTo>
                <a:lnTo>
                  <a:pt x="6775880" y="6356836"/>
                </a:lnTo>
                <a:lnTo>
                  <a:pt x="0" y="6356836"/>
                </a:lnTo>
                <a:lnTo>
                  <a:pt x="0" y="0"/>
                </a:lnTo>
                <a:close/>
              </a:path>
            </a:pathLst>
          </a:custGeom>
          <a:blipFill>
            <a:blip r:embed="rId4"/>
            <a:stretch>
              <a:fillRect l="0" t="0" r="0" b="-6592"/>
            </a:stretch>
          </a:blipFill>
        </p:spPr>
      </p:sp>
      <p:sp>
        <p:nvSpPr>
          <p:cNvPr name="TextBox 5" id="5"/>
          <p:cNvSpPr txBox="true"/>
          <p:nvPr/>
        </p:nvSpPr>
        <p:spPr>
          <a:xfrm rot="0">
            <a:off x="1028700" y="1799860"/>
            <a:ext cx="8848105" cy="3032760"/>
          </a:xfrm>
          <a:prstGeom prst="rect">
            <a:avLst/>
          </a:prstGeom>
        </p:spPr>
        <p:txBody>
          <a:bodyPr anchor="t" rtlCol="false" tIns="0" lIns="0" bIns="0" rIns="0">
            <a:spAutoFit/>
          </a:bodyPr>
          <a:lstStyle/>
          <a:p>
            <a:pPr algn="l">
              <a:lnSpc>
                <a:spcPts val="3749"/>
              </a:lnSpc>
            </a:pPr>
            <a:r>
              <a:rPr lang="en-US" sz="2499" b="true">
                <a:solidFill>
                  <a:srgbClr val="000000"/>
                </a:solidFill>
                <a:latin typeface="Arial Bold"/>
                <a:ea typeface="Arial Bold"/>
                <a:cs typeface="Arial Bold"/>
                <a:sym typeface="Arial Bold"/>
              </a:rPr>
              <a:t>Multi-Agent Design</a:t>
            </a:r>
          </a:p>
          <a:p>
            <a:pPr algn="l">
              <a:lnSpc>
                <a:spcPts val="3449"/>
              </a:lnSpc>
            </a:pPr>
          </a:p>
          <a:p>
            <a:pPr algn="l" marL="496569" indent="-248284" lvl="1">
              <a:lnSpc>
                <a:spcPts val="3449"/>
              </a:lnSpc>
              <a:buAutoNum type="arabicPeriod" startAt="1"/>
            </a:pPr>
            <a:r>
              <a:rPr lang="en-US" b="true" sz="2299">
                <a:solidFill>
                  <a:srgbClr val="000000"/>
                </a:solidFill>
                <a:latin typeface="Arial Bold"/>
                <a:ea typeface="Arial Bold"/>
                <a:cs typeface="Arial Bold"/>
                <a:sym typeface="Arial Bold"/>
              </a:rPr>
              <a:t>Soil &amp; </a:t>
            </a:r>
            <a:r>
              <a:rPr lang="en-US" b="true" sz="2299">
                <a:solidFill>
                  <a:srgbClr val="000000"/>
                </a:solidFill>
                <a:latin typeface="Arial Bold"/>
                <a:ea typeface="Arial Bold"/>
                <a:cs typeface="Arial Bold"/>
                <a:sym typeface="Arial Bold"/>
              </a:rPr>
              <a:t>Weather Data Analysis Agent</a:t>
            </a:r>
          </a:p>
          <a:p>
            <a:pPr algn="l" marL="993138" indent="-331046" lvl="2">
              <a:lnSpc>
                <a:spcPts val="3449"/>
              </a:lnSpc>
              <a:buFont typeface="Arial"/>
              <a:buChar char="⚬"/>
            </a:pPr>
            <a:r>
              <a:rPr lang="en-US" b="true" sz="2299">
                <a:solidFill>
                  <a:srgbClr val="000000"/>
                </a:solidFill>
                <a:latin typeface="Arial Bold"/>
                <a:ea typeface="Arial Bold"/>
                <a:cs typeface="Arial Bold"/>
                <a:sym typeface="Arial Bold"/>
              </a:rPr>
              <a:t>S</a:t>
            </a:r>
            <a:r>
              <a:rPr lang="en-US" b="true" sz="2299">
                <a:solidFill>
                  <a:srgbClr val="000000"/>
                </a:solidFill>
                <a:latin typeface="Arial Bold"/>
                <a:ea typeface="Arial Bold"/>
                <a:cs typeface="Arial Bold"/>
                <a:sym typeface="Arial Bold"/>
              </a:rPr>
              <a:t>oil moisture levels</a:t>
            </a:r>
          </a:p>
          <a:p>
            <a:pPr algn="l" marL="993138" indent="-331046" lvl="2">
              <a:lnSpc>
                <a:spcPts val="3449"/>
              </a:lnSpc>
              <a:buFont typeface="Arial"/>
              <a:buChar char="⚬"/>
            </a:pPr>
            <a:r>
              <a:rPr lang="en-US" b="true" sz="2299">
                <a:solidFill>
                  <a:srgbClr val="000000"/>
                </a:solidFill>
                <a:latin typeface="Arial Bold"/>
                <a:ea typeface="Arial Bold"/>
                <a:cs typeface="Arial Bold"/>
                <a:sym typeface="Arial Bold"/>
              </a:rPr>
              <a:t>Rainfall &amp; evapotranspiration</a:t>
            </a:r>
          </a:p>
          <a:p>
            <a:pPr algn="l" marL="993138" indent="-331046" lvl="2">
              <a:lnSpc>
                <a:spcPts val="3449"/>
              </a:lnSpc>
              <a:buFont typeface="Arial"/>
              <a:buChar char="⚬"/>
            </a:pPr>
            <a:r>
              <a:rPr lang="en-US" b="true" sz="2299">
                <a:solidFill>
                  <a:srgbClr val="000000"/>
                </a:solidFill>
                <a:latin typeface="Arial Bold"/>
                <a:ea typeface="Arial Bold"/>
                <a:cs typeface="Arial Bold"/>
                <a:sym typeface="Arial Bold"/>
              </a:rPr>
              <a:t>Crop growth stage context</a:t>
            </a:r>
          </a:p>
          <a:p>
            <a:pPr algn="l">
              <a:lnSpc>
                <a:spcPts val="3449"/>
              </a:lnSpc>
            </a:pPr>
          </a:p>
        </p:txBody>
      </p:sp>
      <p:sp>
        <p:nvSpPr>
          <p:cNvPr name="TextBox 6" id="6"/>
          <p:cNvSpPr txBox="true"/>
          <p:nvPr/>
        </p:nvSpPr>
        <p:spPr>
          <a:xfrm rot="0">
            <a:off x="1028700" y="1000125"/>
            <a:ext cx="6625904"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Proposed solution </a:t>
            </a:r>
          </a:p>
        </p:txBody>
      </p:sp>
      <p:sp>
        <p:nvSpPr>
          <p:cNvPr name="TextBox 7" id="7"/>
          <p:cNvSpPr txBox="true"/>
          <p:nvPr/>
        </p:nvSpPr>
        <p:spPr>
          <a:xfrm rot="0">
            <a:off x="1028700" y="6536819"/>
            <a:ext cx="8848105" cy="2141220"/>
          </a:xfrm>
          <a:prstGeom prst="rect">
            <a:avLst/>
          </a:prstGeom>
        </p:spPr>
        <p:txBody>
          <a:bodyPr anchor="t" rtlCol="false" tIns="0" lIns="0" bIns="0" rIns="0">
            <a:spAutoFit/>
          </a:bodyPr>
          <a:lstStyle/>
          <a:p>
            <a:pPr algn="l">
              <a:lnSpc>
                <a:spcPts val="3449"/>
              </a:lnSpc>
            </a:pPr>
          </a:p>
          <a:p>
            <a:pPr algn="l" marL="496569" indent="-248284" lvl="1">
              <a:lnSpc>
                <a:spcPts val="3449"/>
              </a:lnSpc>
              <a:buAutoNum type="arabicPeriod" startAt="1"/>
            </a:pPr>
            <a:r>
              <a:rPr lang="en-US" b="true" sz="2299">
                <a:solidFill>
                  <a:srgbClr val="000000"/>
                </a:solidFill>
                <a:latin typeface="Arial Bold"/>
                <a:ea typeface="Arial Bold"/>
                <a:cs typeface="Arial Bold"/>
                <a:sym typeface="Arial Bold"/>
              </a:rPr>
              <a:t>Irrigation Advisory Assistant</a:t>
            </a:r>
          </a:p>
          <a:p>
            <a:pPr algn="l" marL="993138" indent="-331046" lvl="2">
              <a:lnSpc>
                <a:spcPts val="3449"/>
              </a:lnSpc>
              <a:buFont typeface="Arial"/>
              <a:buChar char="⚬"/>
            </a:pPr>
            <a:r>
              <a:rPr lang="en-US" b="true" sz="2299">
                <a:solidFill>
                  <a:srgbClr val="000000"/>
                </a:solidFill>
                <a:latin typeface="Arial Bold"/>
                <a:ea typeface="Arial Bold"/>
                <a:cs typeface="Arial Bold"/>
                <a:sym typeface="Arial Bold"/>
              </a:rPr>
              <a:t>Sug</a:t>
            </a:r>
            <a:r>
              <a:rPr lang="en-US" b="true" sz="2299">
                <a:solidFill>
                  <a:srgbClr val="000000"/>
                </a:solidFill>
                <a:latin typeface="Arial Bold"/>
                <a:ea typeface="Arial Bold"/>
                <a:cs typeface="Arial Bold"/>
                <a:sym typeface="Arial Bold"/>
              </a:rPr>
              <a:t>gests irrigation timing &amp; quantity</a:t>
            </a:r>
          </a:p>
          <a:p>
            <a:pPr algn="l" marL="993138" indent="-331046" lvl="2">
              <a:lnSpc>
                <a:spcPts val="3449"/>
              </a:lnSpc>
              <a:buFont typeface="Arial"/>
              <a:buChar char="⚬"/>
            </a:pPr>
            <a:r>
              <a:rPr lang="en-US" b="true" sz="2299">
                <a:solidFill>
                  <a:srgbClr val="000000"/>
                </a:solidFill>
                <a:latin typeface="Arial Bold"/>
                <a:ea typeface="Arial Bold"/>
                <a:cs typeface="Arial Bold"/>
                <a:sym typeface="Arial Bold"/>
              </a:rPr>
              <a:t>Focuses on water efficiency &amp; sustainability</a:t>
            </a:r>
          </a:p>
          <a:p>
            <a:pPr algn="l">
              <a:lnSpc>
                <a:spcPts val="3449"/>
              </a:lnSpc>
            </a:pPr>
          </a:p>
        </p:txBody>
      </p:sp>
      <p:sp>
        <p:nvSpPr>
          <p:cNvPr name="TextBox 8" id="8"/>
          <p:cNvSpPr txBox="true"/>
          <p:nvPr/>
        </p:nvSpPr>
        <p:spPr>
          <a:xfrm rot="0">
            <a:off x="1028700" y="4564380"/>
            <a:ext cx="8848105" cy="2141220"/>
          </a:xfrm>
          <a:prstGeom prst="rect">
            <a:avLst/>
          </a:prstGeom>
        </p:spPr>
        <p:txBody>
          <a:bodyPr anchor="t" rtlCol="false" tIns="0" lIns="0" bIns="0" rIns="0">
            <a:spAutoFit/>
          </a:bodyPr>
          <a:lstStyle/>
          <a:p>
            <a:pPr algn="l">
              <a:lnSpc>
                <a:spcPts val="3449"/>
              </a:lnSpc>
            </a:pPr>
          </a:p>
          <a:p>
            <a:pPr algn="l" marL="496569" indent="-248284" lvl="1">
              <a:lnSpc>
                <a:spcPts val="3449"/>
              </a:lnSpc>
              <a:buAutoNum type="arabicPeriod" startAt="1"/>
            </a:pPr>
            <a:r>
              <a:rPr lang="en-US" b="true" sz="2299">
                <a:solidFill>
                  <a:srgbClr val="000000"/>
                </a:solidFill>
                <a:latin typeface="Arial Bold"/>
                <a:ea typeface="Arial Bold"/>
                <a:cs typeface="Arial Bold"/>
                <a:sym typeface="Arial Bold"/>
              </a:rPr>
              <a:t>W</a:t>
            </a:r>
            <a:r>
              <a:rPr lang="en-US" b="true" sz="2299">
                <a:solidFill>
                  <a:srgbClr val="000000"/>
                </a:solidFill>
                <a:latin typeface="Arial Bold"/>
                <a:ea typeface="Arial Bold"/>
                <a:cs typeface="Arial Bold"/>
                <a:sym typeface="Arial Bold"/>
              </a:rPr>
              <a:t>ater Stress Detection Agent</a:t>
            </a:r>
          </a:p>
          <a:p>
            <a:pPr algn="l" marL="993138" indent="-331046" lvl="2">
              <a:lnSpc>
                <a:spcPts val="3449"/>
              </a:lnSpc>
              <a:buFont typeface="Arial"/>
              <a:buChar char="⚬"/>
            </a:pPr>
            <a:r>
              <a:rPr lang="en-US" b="true" sz="2299">
                <a:solidFill>
                  <a:srgbClr val="000000"/>
                </a:solidFill>
                <a:latin typeface="Arial Bold"/>
                <a:ea typeface="Arial Bold"/>
                <a:cs typeface="Arial Bold"/>
                <a:sym typeface="Arial Bold"/>
              </a:rPr>
              <a:t>I</a:t>
            </a:r>
            <a:r>
              <a:rPr lang="en-US" b="true" sz="2299">
                <a:solidFill>
                  <a:srgbClr val="000000"/>
                </a:solidFill>
                <a:latin typeface="Arial Bold"/>
                <a:ea typeface="Arial Bold"/>
                <a:cs typeface="Arial Bold"/>
                <a:sym typeface="Arial Bold"/>
              </a:rPr>
              <a:t>dentifies over-irrigation / under-irrigation</a:t>
            </a:r>
          </a:p>
          <a:p>
            <a:pPr algn="l" marL="993138" indent="-331046" lvl="2">
              <a:lnSpc>
                <a:spcPts val="3449"/>
              </a:lnSpc>
              <a:buFont typeface="Arial"/>
              <a:buChar char="⚬"/>
            </a:pPr>
            <a:r>
              <a:rPr lang="en-US" b="true" sz="2299">
                <a:solidFill>
                  <a:srgbClr val="000000"/>
                </a:solidFill>
                <a:latin typeface="Arial Bold"/>
                <a:ea typeface="Arial Bold"/>
                <a:cs typeface="Arial Bold"/>
                <a:sym typeface="Arial Bold"/>
              </a:rPr>
              <a:t>Uses historical + seasonal baselines</a:t>
            </a:r>
          </a:p>
          <a:p>
            <a:pPr algn="l">
              <a:lnSpc>
                <a:spcPts val="344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9252" y="9483935"/>
            <a:ext cx="17245047" cy="454421"/>
            <a:chOff x="0" y="0"/>
            <a:chExt cx="23532577" cy="620103"/>
          </a:xfrm>
        </p:grpSpPr>
        <p:sp>
          <p:nvSpPr>
            <p:cNvPr name="Freeform 3" id="3"/>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3"/>
              <a:stretch>
                <a:fillRect l="0" t="-264" r="0" b="-258"/>
              </a:stretch>
            </a:blipFill>
          </p:spPr>
        </p:sp>
      </p:grpSp>
      <p:sp>
        <p:nvSpPr>
          <p:cNvPr name="TextBox 4" id="4"/>
          <p:cNvSpPr txBox="true"/>
          <p:nvPr/>
        </p:nvSpPr>
        <p:spPr>
          <a:xfrm rot="0">
            <a:off x="1643101" y="1811968"/>
            <a:ext cx="8569634" cy="4657725"/>
          </a:xfrm>
          <a:prstGeom prst="rect">
            <a:avLst/>
          </a:prstGeom>
        </p:spPr>
        <p:txBody>
          <a:bodyPr anchor="t" rtlCol="false" tIns="0" lIns="0" bIns="0" rIns="0">
            <a:spAutoFit/>
          </a:bodyPr>
          <a:lstStyle/>
          <a:p>
            <a:pPr algn="l">
              <a:lnSpc>
                <a:spcPts val="3749"/>
              </a:lnSpc>
            </a:pPr>
          </a:p>
          <a:p>
            <a:pPr algn="l" marL="539748" indent="-269874" lvl="1">
              <a:lnSpc>
                <a:spcPts val="3749"/>
              </a:lnSpc>
              <a:buFont typeface="Arial"/>
              <a:buChar char="•"/>
            </a:pPr>
            <a:r>
              <a:rPr lang="en-US" sz="2499">
                <a:solidFill>
                  <a:srgbClr val="000000"/>
                </a:solidFill>
                <a:latin typeface="Arial"/>
                <a:ea typeface="Arial"/>
                <a:cs typeface="Arial"/>
                <a:sym typeface="Arial"/>
              </a:rPr>
              <a:t>Manual irrigation decisions are reactive and inconsistent</a:t>
            </a:r>
          </a:p>
          <a:p>
            <a:pPr algn="l" marL="539748" indent="-269874" lvl="1">
              <a:lnSpc>
                <a:spcPts val="3749"/>
              </a:lnSpc>
              <a:buFont typeface="Arial"/>
              <a:buChar char="•"/>
            </a:pPr>
            <a:r>
              <a:rPr lang="en-US" sz="2499">
                <a:solidFill>
                  <a:srgbClr val="000000"/>
                </a:solidFill>
                <a:latin typeface="Arial"/>
                <a:ea typeface="Arial"/>
                <a:cs typeface="Arial"/>
                <a:sym typeface="Arial"/>
              </a:rPr>
              <a:t>Over-irrigation → water wastage &amp; soil degradation</a:t>
            </a:r>
          </a:p>
          <a:p>
            <a:pPr algn="l" marL="539748" indent="-269874" lvl="1">
              <a:lnSpc>
                <a:spcPts val="3749"/>
              </a:lnSpc>
              <a:buFont typeface="Arial"/>
              <a:buChar char="•"/>
            </a:pPr>
            <a:r>
              <a:rPr lang="en-US" sz="2499">
                <a:solidFill>
                  <a:srgbClr val="000000"/>
                </a:solidFill>
                <a:latin typeface="Arial"/>
                <a:ea typeface="Arial"/>
                <a:cs typeface="Arial"/>
                <a:sym typeface="Arial"/>
              </a:rPr>
              <a:t>Under-irrigation → crop stress &amp; yield loss</a:t>
            </a:r>
          </a:p>
          <a:p>
            <a:pPr algn="l">
              <a:lnSpc>
                <a:spcPts val="3749"/>
              </a:lnSpc>
            </a:pPr>
          </a:p>
          <a:p>
            <a:pPr algn="l" marL="539748" indent="-269874" lvl="1">
              <a:lnSpc>
                <a:spcPts val="3749"/>
              </a:lnSpc>
              <a:buFont typeface="Arial"/>
              <a:buChar char="•"/>
            </a:pPr>
            <a:r>
              <a:rPr lang="en-US" sz="2499">
                <a:solidFill>
                  <a:srgbClr val="000000"/>
                </a:solidFill>
                <a:latin typeface="Arial"/>
                <a:ea typeface="Arial"/>
                <a:cs typeface="Arial"/>
                <a:sym typeface="Arial"/>
              </a:rPr>
              <a:t>Farmers lack continuous, contextual insights combining:</a:t>
            </a:r>
          </a:p>
          <a:p>
            <a:pPr algn="l" marL="1079496" indent="-359832" lvl="2">
              <a:lnSpc>
                <a:spcPts val="3749"/>
              </a:lnSpc>
              <a:buFont typeface="Arial"/>
              <a:buChar char="⚬"/>
            </a:pPr>
            <a:r>
              <a:rPr lang="en-US" sz="2499">
                <a:solidFill>
                  <a:srgbClr val="000000"/>
                </a:solidFill>
                <a:latin typeface="Arial"/>
                <a:ea typeface="Arial"/>
                <a:cs typeface="Arial"/>
                <a:sym typeface="Arial"/>
              </a:rPr>
              <a:t>Soil conditions</a:t>
            </a:r>
          </a:p>
          <a:p>
            <a:pPr algn="l" marL="1079496" indent="-359832" lvl="2">
              <a:lnSpc>
                <a:spcPts val="3749"/>
              </a:lnSpc>
              <a:buFont typeface="Arial"/>
              <a:buChar char="⚬"/>
            </a:pPr>
            <a:r>
              <a:rPr lang="en-US" sz="2499">
                <a:solidFill>
                  <a:srgbClr val="000000"/>
                </a:solidFill>
                <a:latin typeface="Arial"/>
                <a:ea typeface="Arial"/>
                <a:cs typeface="Arial"/>
                <a:sym typeface="Arial"/>
              </a:rPr>
              <a:t>Weather variability</a:t>
            </a:r>
          </a:p>
          <a:p>
            <a:pPr algn="l" marL="1079496" indent="-359832" lvl="2">
              <a:lnSpc>
                <a:spcPts val="3749"/>
              </a:lnSpc>
              <a:buFont typeface="Arial"/>
              <a:buChar char="⚬"/>
            </a:pPr>
            <a:r>
              <a:rPr lang="en-US" sz="2499">
                <a:solidFill>
                  <a:srgbClr val="000000"/>
                </a:solidFill>
                <a:latin typeface="Arial"/>
                <a:ea typeface="Arial"/>
                <a:cs typeface="Arial"/>
                <a:sym typeface="Arial"/>
              </a:rPr>
              <a:t>Crop growth stages</a:t>
            </a:r>
          </a:p>
          <a:p>
            <a:pPr algn="l">
              <a:lnSpc>
                <a:spcPts val="3749"/>
              </a:lnSpc>
            </a:pPr>
          </a:p>
        </p:txBody>
      </p:sp>
      <p:sp>
        <p:nvSpPr>
          <p:cNvPr name="TextBox 5" id="5"/>
          <p:cNvSpPr txBox="true"/>
          <p:nvPr/>
        </p:nvSpPr>
        <p:spPr>
          <a:xfrm rot="0">
            <a:off x="1643101" y="804558"/>
            <a:ext cx="8061770"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Why Irrigation </a:t>
            </a:r>
            <a:r>
              <a:rPr lang="en-US" sz="3600" b="true">
                <a:solidFill>
                  <a:srgbClr val="000000"/>
                </a:solidFill>
                <a:latin typeface="Arial Bold"/>
                <a:ea typeface="Arial Bold"/>
                <a:cs typeface="Arial Bold"/>
                <a:sym typeface="Arial Bold"/>
              </a:rPr>
              <a:t>Needs Intelligence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43101" y="804558"/>
            <a:ext cx="8061770"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End user of project</a:t>
            </a:r>
          </a:p>
        </p:txBody>
      </p:sp>
      <p:grpSp>
        <p:nvGrpSpPr>
          <p:cNvPr name="Group 3" id="3"/>
          <p:cNvGrpSpPr/>
          <p:nvPr/>
        </p:nvGrpSpPr>
        <p:grpSpPr>
          <a:xfrm rot="0">
            <a:off x="539252" y="9483935"/>
            <a:ext cx="17245047" cy="454421"/>
            <a:chOff x="0" y="0"/>
            <a:chExt cx="23532577" cy="620103"/>
          </a:xfrm>
        </p:grpSpPr>
        <p:sp>
          <p:nvSpPr>
            <p:cNvPr name="Freeform 4" id="4"/>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3"/>
              <a:stretch>
                <a:fillRect l="0" t="-264" r="0" b="-258"/>
              </a:stretch>
            </a:blipFill>
          </p:spPr>
        </p:sp>
      </p:grpSp>
      <p:sp>
        <p:nvSpPr>
          <p:cNvPr name="Freeform 5" id="5"/>
          <p:cNvSpPr/>
          <p:nvPr/>
        </p:nvSpPr>
        <p:spPr>
          <a:xfrm flipH="false" flipV="false" rot="0">
            <a:off x="10670746" y="2250074"/>
            <a:ext cx="6588554" cy="4935056"/>
          </a:xfrm>
          <a:custGeom>
            <a:avLst/>
            <a:gdLst/>
            <a:ahLst/>
            <a:cxnLst/>
            <a:rect r="r" b="b" t="t" l="l"/>
            <a:pathLst>
              <a:path h="4935056" w="6588554">
                <a:moveTo>
                  <a:pt x="0" y="0"/>
                </a:moveTo>
                <a:lnTo>
                  <a:pt x="6588554" y="0"/>
                </a:lnTo>
                <a:lnTo>
                  <a:pt x="6588554" y="4935057"/>
                </a:lnTo>
                <a:lnTo>
                  <a:pt x="0" y="4935057"/>
                </a:lnTo>
                <a:lnTo>
                  <a:pt x="0" y="0"/>
                </a:lnTo>
                <a:close/>
              </a:path>
            </a:pathLst>
          </a:custGeom>
          <a:blipFill>
            <a:blip r:embed="rId4"/>
            <a:stretch>
              <a:fillRect l="0" t="0" r="0" b="0"/>
            </a:stretch>
          </a:blipFill>
        </p:spPr>
      </p:sp>
      <p:sp>
        <p:nvSpPr>
          <p:cNvPr name="TextBox 6" id="6"/>
          <p:cNvSpPr txBox="true"/>
          <p:nvPr/>
        </p:nvSpPr>
        <p:spPr>
          <a:xfrm rot="0">
            <a:off x="1028700" y="2419350"/>
            <a:ext cx="8310559" cy="5105513"/>
          </a:xfrm>
          <a:prstGeom prst="rect">
            <a:avLst/>
          </a:prstGeom>
        </p:spPr>
        <p:txBody>
          <a:bodyPr anchor="t" rtlCol="false" tIns="0" lIns="0" bIns="0" rIns="0">
            <a:spAutoFit/>
          </a:bodyPr>
          <a:lstStyle/>
          <a:p>
            <a:pPr algn="just">
              <a:lnSpc>
                <a:spcPts val="2688"/>
              </a:lnSpc>
              <a:spcBef>
                <a:spcPct val="0"/>
              </a:spcBef>
            </a:pPr>
            <a:r>
              <a:rPr lang="en-US" b="true" sz="2240">
                <a:solidFill>
                  <a:srgbClr val="000000"/>
                </a:solidFill>
                <a:latin typeface="Arial Bold"/>
                <a:ea typeface="Arial Bold"/>
                <a:cs typeface="Arial Bold"/>
                <a:sym typeface="Arial Bold"/>
              </a:rPr>
              <a:t>Primary End Users</a:t>
            </a:r>
          </a:p>
          <a:p>
            <a:pPr algn="just">
              <a:lnSpc>
                <a:spcPts val="2688"/>
              </a:lnSpc>
              <a:spcBef>
                <a:spcPct val="0"/>
              </a:spcBef>
            </a:pPr>
          </a:p>
          <a:p>
            <a:pPr algn="just" marL="483727" indent="-241864" lvl="1">
              <a:lnSpc>
                <a:spcPts val="2688"/>
              </a:lnSpc>
              <a:buFont typeface="Arial"/>
              <a:buChar char="•"/>
            </a:pPr>
            <a:r>
              <a:rPr lang="en-US" sz="2240">
                <a:solidFill>
                  <a:srgbClr val="000000"/>
                </a:solidFill>
                <a:latin typeface="Arial"/>
                <a:ea typeface="Arial"/>
                <a:cs typeface="Arial"/>
                <a:sym typeface="Arial"/>
              </a:rPr>
              <a:t>Farmers (small, medium, and large-scale)</a:t>
            </a:r>
          </a:p>
          <a:p>
            <a:pPr algn="just" marL="483727" indent="-241864" lvl="1">
              <a:lnSpc>
                <a:spcPts val="2688"/>
              </a:lnSpc>
              <a:buFont typeface="Arial"/>
              <a:buChar char="•"/>
            </a:pPr>
            <a:r>
              <a:rPr lang="en-US" sz="2240">
                <a:solidFill>
                  <a:srgbClr val="000000"/>
                </a:solidFill>
                <a:latin typeface="Arial"/>
                <a:ea typeface="Arial"/>
                <a:cs typeface="Arial"/>
                <a:sym typeface="Arial"/>
              </a:rPr>
              <a:t>Especially those practicing water-limited or rain-dependent agriculture</a:t>
            </a:r>
          </a:p>
          <a:p>
            <a:pPr algn="just" marL="483727" indent="-241864" lvl="1">
              <a:lnSpc>
                <a:spcPts val="2688"/>
              </a:lnSpc>
              <a:buFont typeface="Arial"/>
              <a:buChar char="•"/>
            </a:pPr>
            <a:r>
              <a:rPr lang="en-US" sz="2240">
                <a:solidFill>
                  <a:srgbClr val="000000"/>
                </a:solidFill>
                <a:latin typeface="Arial"/>
                <a:ea typeface="Arial"/>
                <a:cs typeface="Arial"/>
                <a:sym typeface="Arial"/>
              </a:rPr>
              <a:t>Users with access to basic soil and weather data (sensors or public sources)</a:t>
            </a:r>
          </a:p>
          <a:p>
            <a:pPr algn="just">
              <a:lnSpc>
                <a:spcPts val="2688"/>
              </a:lnSpc>
              <a:spcBef>
                <a:spcPct val="0"/>
              </a:spcBef>
            </a:pPr>
          </a:p>
          <a:p>
            <a:pPr algn="just">
              <a:lnSpc>
                <a:spcPts val="2688"/>
              </a:lnSpc>
              <a:spcBef>
                <a:spcPct val="0"/>
              </a:spcBef>
            </a:pPr>
          </a:p>
          <a:p>
            <a:pPr algn="just">
              <a:lnSpc>
                <a:spcPts val="2688"/>
              </a:lnSpc>
              <a:spcBef>
                <a:spcPct val="0"/>
              </a:spcBef>
            </a:pPr>
            <a:r>
              <a:rPr lang="en-US" b="true" sz="2240">
                <a:solidFill>
                  <a:srgbClr val="000000"/>
                </a:solidFill>
                <a:latin typeface="Arial Bold"/>
                <a:ea typeface="Arial Bold"/>
                <a:cs typeface="Arial Bold"/>
                <a:sym typeface="Arial Bold"/>
              </a:rPr>
              <a:t>Secondary Users</a:t>
            </a:r>
          </a:p>
          <a:p>
            <a:pPr algn="just">
              <a:lnSpc>
                <a:spcPts val="2688"/>
              </a:lnSpc>
              <a:spcBef>
                <a:spcPct val="0"/>
              </a:spcBef>
            </a:pPr>
          </a:p>
          <a:p>
            <a:pPr algn="just" marL="483727" indent="-241864" lvl="1">
              <a:lnSpc>
                <a:spcPts val="2688"/>
              </a:lnSpc>
              <a:buFont typeface="Arial"/>
              <a:buChar char="•"/>
            </a:pPr>
            <a:r>
              <a:rPr lang="en-US" sz="2240">
                <a:solidFill>
                  <a:srgbClr val="000000"/>
                </a:solidFill>
                <a:latin typeface="Arial"/>
                <a:ea typeface="Arial"/>
                <a:cs typeface="Arial"/>
                <a:sym typeface="Arial"/>
              </a:rPr>
              <a:t>Agricultural extension officers</a:t>
            </a:r>
          </a:p>
          <a:p>
            <a:pPr algn="just" marL="483727" indent="-241864" lvl="1">
              <a:lnSpc>
                <a:spcPts val="2688"/>
              </a:lnSpc>
              <a:buFont typeface="Arial"/>
              <a:buChar char="•"/>
            </a:pPr>
            <a:r>
              <a:rPr lang="en-US" sz="2240">
                <a:solidFill>
                  <a:srgbClr val="000000"/>
                </a:solidFill>
                <a:latin typeface="Arial"/>
                <a:ea typeface="Arial"/>
                <a:cs typeface="Arial"/>
                <a:sym typeface="Arial"/>
              </a:rPr>
              <a:t>Support farmers with data-backed irrigation advice</a:t>
            </a:r>
          </a:p>
          <a:p>
            <a:pPr algn="just" marL="483727" indent="-241864" lvl="1">
              <a:lnSpc>
                <a:spcPts val="2688"/>
              </a:lnSpc>
              <a:buFont typeface="Arial"/>
              <a:buChar char="•"/>
            </a:pPr>
            <a:r>
              <a:rPr lang="en-US" sz="2240">
                <a:solidFill>
                  <a:srgbClr val="000000"/>
                </a:solidFill>
                <a:latin typeface="Arial"/>
                <a:ea typeface="Arial"/>
                <a:cs typeface="Arial"/>
                <a:sym typeface="Arial"/>
              </a:rPr>
              <a:t>Sustainable agriculture planners / NGOs</a:t>
            </a:r>
          </a:p>
          <a:p>
            <a:pPr algn="just" marL="483727" indent="-241864" lvl="1">
              <a:lnSpc>
                <a:spcPts val="2688"/>
              </a:lnSpc>
              <a:buFont typeface="Arial"/>
              <a:buChar char="•"/>
            </a:pPr>
            <a:r>
              <a:rPr lang="en-US" sz="2240">
                <a:solidFill>
                  <a:srgbClr val="000000"/>
                </a:solidFill>
                <a:latin typeface="Arial"/>
                <a:ea typeface="Arial"/>
                <a:cs typeface="Arial"/>
                <a:sym typeface="Arial"/>
              </a:rPr>
              <a:t>Monitor water-use efficiency trends across regions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7300" y="744093"/>
            <a:ext cx="10501884"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Technology Used</a:t>
            </a:r>
          </a:p>
        </p:txBody>
      </p:sp>
      <p:sp>
        <p:nvSpPr>
          <p:cNvPr name="TextBox 3" id="3"/>
          <p:cNvSpPr txBox="true"/>
          <p:nvPr/>
        </p:nvSpPr>
        <p:spPr>
          <a:xfrm rot="0">
            <a:off x="1257300" y="1837182"/>
            <a:ext cx="15590520" cy="6981825"/>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00000"/>
                </a:solidFill>
                <a:latin typeface="Arial"/>
                <a:ea typeface="Arial"/>
                <a:cs typeface="Arial"/>
                <a:sym typeface="Arial"/>
              </a:rPr>
              <a:t>Langflow platform</a:t>
            </a:r>
          </a:p>
          <a:p>
            <a:pPr algn="l" marL="488632" indent="-244316" lvl="1">
              <a:lnSpc>
                <a:spcPts val="3240"/>
              </a:lnSpc>
            </a:pPr>
          </a:p>
          <a:p>
            <a:pPr algn="l" marL="488632" indent="-244316" lvl="1">
              <a:lnSpc>
                <a:spcPts val="3240"/>
              </a:lnSpc>
              <a:buFont typeface="Arial"/>
              <a:buChar char="•"/>
            </a:pPr>
            <a:r>
              <a:rPr lang="en-US" sz="2700">
                <a:solidFill>
                  <a:srgbClr val="000000"/>
                </a:solidFill>
                <a:latin typeface="Arial"/>
                <a:ea typeface="Arial"/>
                <a:cs typeface="Arial"/>
                <a:sym typeface="Arial"/>
              </a:rPr>
              <a:t>Langflow component name –  Agent  , Chat input , Chat output </a:t>
            </a:r>
          </a:p>
          <a:p>
            <a:pPr algn="l" marL="488632" indent="-244316" lvl="1">
              <a:lnSpc>
                <a:spcPts val="3240"/>
              </a:lnSpc>
            </a:pPr>
          </a:p>
          <a:p>
            <a:pPr algn="l" marL="488632" indent="-244316" lvl="1">
              <a:lnSpc>
                <a:spcPts val="3240"/>
              </a:lnSpc>
              <a:buFont typeface="Arial"/>
              <a:buChar char="•"/>
            </a:pPr>
            <a:r>
              <a:rPr lang="en-US" sz="2700">
                <a:solidFill>
                  <a:srgbClr val="000000"/>
                </a:solidFill>
                <a:latin typeface="Arial"/>
                <a:ea typeface="Arial"/>
                <a:cs typeface="Arial"/>
                <a:sym typeface="Arial"/>
              </a:rPr>
              <a:t>IBM Granite model (ibm-granite-3-2-8b)</a:t>
            </a:r>
          </a:p>
          <a:p>
            <a:pPr algn="l" marL="488632" indent="-244316" lvl="1">
              <a:lnSpc>
                <a:spcPts val="3240"/>
              </a:lnSpc>
            </a:pPr>
          </a:p>
          <a:p>
            <a:pPr algn="l" marL="488632" indent="-244316" lvl="1">
              <a:lnSpc>
                <a:spcPts val="3240"/>
              </a:lnSpc>
              <a:buFont typeface="Arial"/>
              <a:buChar char="•"/>
            </a:pPr>
            <a:r>
              <a:rPr lang="en-US" sz="2700">
                <a:solidFill>
                  <a:srgbClr val="000000"/>
                </a:solidFill>
                <a:latin typeface="Arial"/>
                <a:ea typeface="Arial"/>
                <a:cs typeface="Arial"/>
                <a:sym typeface="Arial"/>
              </a:rPr>
              <a:t>IBM Cloud</a:t>
            </a:r>
          </a:p>
          <a:p>
            <a:pPr algn="l" marL="488632" indent="-244316" lvl="1">
              <a:lnSpc>
                <a:spcPts val="3240"/>
              </a:lnSpc>
            </a:pPr>
          </a:p>
          <a:p>
            <a:pPr algn="l" marL="488632" indent="-244316" lvl="1">
              <a:lnSpc>
                <a:spcPts val="3240"/>
              </a:lnSpc>
              <a:buFont typeface="Arial"/>
              <a:buChar char="•"/>
            </a:pPr>
            <a:r>
              <a:rPr lang="en-US" sz="2700">
                <a:solidFill>
                  <a:srgbClr val="000000"/>
                </a:solidFill>
                <a:latin typeface="Arial"/>
                <a:ea typeface="Arial"/>
                <a:cs typeface="Arial"/>
                <a:sym typeface="Arial"/>
              </a:rPr>
              <a:t>RAG  </a:t>
            </a:r>
          </a:p>
          <a:p>
            <a:pPr algn="l" marL="488632" indent="-244316" lvl="1">
              <a:lnSpc>
                <a:spcPts val="3240"/>
              </a:lnSpc>
            </a:pPr>
          </a:p>
          <a:p>
            <a:pPr algn="l" marL="488632" indent="-244316" lvl="1">
              <a:lnSpc>
                <a:spcPts val="3240"/>
              </a:lnSpc>
              <a:buFont typeface="Arial"/>
              <a:buChar char="•"/>
            </a:pPr>
            <a:r>
              <a:rPr lang="en-US" sz="2700">
                <a:solidFill>
                  <a:srgbClr val="000000"/>
                </a:solidFill>
                <a:latin typeface="Arial"/>
                <a:ea typeface="Arial"/>
                <a:cs typeface="Arial"/>
                <a:sym typeface="Arial"/>
              </a:rPr>
              <a:t>IBM Watsonx.ai</a:t>
            </a:r>
          </a:p>
          <a:p>
            <a:pPr algn="l" marL="488632" indent="-244316" lvl="1">
              <a:lnSpc>
                <a:spcPts val="3240"/>
              </a:lnSpc>
            </a:pPr>
          </a:p>
          <a:p>
            <a:pPr algn="l" marL="488632" indent="-244316" lvl="1">
              <a:lnSpc>
                <a:spcPts val="3240"/>
              </a:lnSpc>
              <a:buFont typeface="Arial"/>
              <a:buChar char="•"/>
            </a:pPr>
            <a:r>
              <a:rPr lang="en-US" sz="2700">
                <a:solidFill>
                  <a:srgbClr val="000000"/>
                </a:solidFill>
                <a:latin typeface="Arial"/>
                <a:ea typeface="Arial"/>
                <a:cs typeface="Arial"/>
                <a:sym typeface="Arial"/>
              </a:rPr>
              <a:t>Watsonx</a:t>
            </a: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p:txBody>
      </p:sp>
      <p:grpSp>
        <p:nvGrpSpPr>
          <p:cNvPr name="Group 4" id="4"/>
          <p:cNvGrpSpPr/>
          <p:nvPr/>
        </p:nvGrpSpPr>
        <p:grpSpPr>
          <a:xfrm rot="0">
            <a:off x="539252" y="9483935"/>
            <a:ext cx="17245047" cy="454421"/>
            <a:chOff x="0" y="0"/>
            <a:chExt cx="23532577" cy="620103"/>
          </a:xfrm>
        </p:grpSpPr>
        <p:sp>
          <p:nvSpPr>
            <p:cNvPr name="Freeform 5" id="5"/>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3"/>
              <a:stretch>
                <a:fillRect l="0" t="-264" r="0" b="-258"/>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18767"/>
            <a:ext cx="9666742" cy="1152532"/>
          </a:xfrm>
          <a:prstGeom prst="rect">
            <a:avLst/>
          </a:prstGeom>
        </p:spPr>
        <p:txBody>
          <a:bodyPr anchor="t" rtlCol="false" tIns="0" lIns="0" bIns="0" rIns="0">
            <a:spAutoFit/>
          </a:bodyPr>
          <a:lstStyle/>
          <a:p>
            <a:pPr algn="l">
              <a:lnSpc>
                <a:spcPts val="9899"/>
              </a:lnSpc>
            </a:pPr>
            <a:r>
              <a:rPr lang="en-US" sz="5250">
                <a:solidFill>
                  <a:srgbClr val="051D3A"/>
                </a:solidFill>
                <a:latin typeface="Arial"/>
                <a:ea typeface="Arial"/>
                <a:cs typeface="Arial"/>
                <a:sym typeface="Arial"/>
              </a:rPr>
              <a:t>Novelty and Uniqueness</a:t>
            </a:r>
          </a:p>
        </p:txBody>
      </p:sp>
      <p:grpSp>
        <p:nvGrpSpPr>
          <p:cNvPr name="Group 3" id="3"/>
          <p:cNvGrpSpPr/>
          <p:nvPr/>
        </p:nvGrpSpPr>
        <p:grpSpPr>
          <a:xfrm rot="0">
            <a:off x="539252" y="9483935"/>
            <a:ext cx="17245047" cy="454421"/>
            <a:chOff x="0" y="0"/>
            <a:chExt cx="23532577" cy="620103"/>
          </a:xfrm>
        </p:grpSpPr>
        <p:sp>
          <p:nvSpPr>
            <p:cNvPr name="Freeform 4" id="4"/>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3"/>
              <a:stretch>
                <a:fillRect l="0" t="-264" r="0" b="-258"/>
              </a:stretch>
            </a:blipFill>
          </p:spPr>
        </p:sp>
      </p:grpSp>
      <p:sp>
        <p:nvSpPr>
          <p:cNvPr name="TextBox 5" id="5"/>
          <p:cNvSpPr txBox="true"/>
          <p:nvPr/>
        </p:nvSpPr>
        <p:spPr>
          <a:xfrm rot="0">
            <a:off x="1028700" y="1802579"/>
            <a:ext cx="13010363" cy="7586106"/>
          </a:xfrm>
          <a:prstGeom prst="rect">
            <a:avLst/>
          </a:prstGeom>
        </p:spPr>
        <p:txBody>
          <a:bodyPr anchor="t" rtlCol="false" tIns="0" lIns="0" bIns="0" rIns="0">
            <a:spAutoFit/>
          </a:bodyPr>
          <a:lstStyle/>
          <a:p>
            <a:pPr algn="just">
              <a:lnSpc>
                <a:spcPts val="2918"/>
              </a:lnSpc>
            </a:pPr>
            <a:r>
              <a:rPr lang="en-US" b="true" sz="2084" strike="noStrike" u="none">
                <a:solidFill>
                  <a:srgbClr val="000000"/>
                </a:solidFill>
                <a:latin typeface="Canva Sans Bold"/>
                <a:ea typeface="Canva Sans Bold"/>
                <a:cs typeface="Canva Sans Bold"/>
                <a:sym typeface="Canva Sans Bold"/>
              </a:rPr>
              <a:t>A</a:t>
            </a:r>
            <a:r>
              <a:rPr lang="en-US" b="true" sz="2084" strike="noStrike" u="none">
                <a:solidFill>
                  <a:srgbClr val="000000"/>
                </a:solidFill>
                <a:latin typeface="Canva Sans Bold"/>
                <a:ea typeface="Canva Sans Bold"/>
                <a:cs typeface="Canva Sans Bold"/>
                <a:sym typeface="Canva Sans Bold"/>
              </a:rPr>
              <a:t>ssistive AI, not Automation</a:t>
            </a:r>
          </a:p>
          <a:p>
            <a:pPr algn="just">
              <a:lnSpc>
                <a:spcPts val="2918"/>
              </a:lnSpc>
            </a:pPr>
            <a:r>
              <a:rPr lang="en-US" sz="2084" strike="noStrike" u="none">
                <a:solidFill>
                  <a:srgbClr val="000000"/>
                </a:solidFill>
                <a:latin typeface="Canva Sans"/>
                <a:ea typeface="Canva Sans"/>
                <a:cs typeface="Canva Sans"/>
                <a:sym typeface="Canva Sans"/>
              </a:rPr>
              <a:t>Provi</a:t>
            </a:r>
            <a:r>
              <a:rPr lang="en-US" sz="2084" strike="noStrike" u="none">
                <a:solidFill>
                  <a:srgbClr val="000000"/>
                </a:solidFill>
                <a:latin typeface="Canva Sans"/>
                <a:ea typeface="Canva Sans"/>
                <a:cs typeface="Canva Sans"/>
                <a:sym typeface="Canva Sans"/>
              </a:rPr>
              <a:t>d</a:t>
            </a:r>
            <a:r>
              <a:rPr lang="en-US" sz="2084" strike="noStrike" u="none">
                <a:solidFill>
                  <a:srgbClr val="000000"/>
                </a:solidFill>
                <a:latin typeface="Canva Sans"/>
                <a:ea typeface="Canva Sans"/>
                <a:cs typeface="Canva Sans"/>
                <a:sym typeface="Canva Sans"/>
              </a:rPr>
              <a:t>es recommen</a:t>
            </a:r>
            <a:r>
              <a:rPr lang="en-US" sz="2084" strike="noStrike" u="none">
                <a:solidFill>
                  <a:srgbClr val="000000"/>
                </a:solidFill>
                <a:latin typeface="Canva Sans"/>
                <a:ea typeface="Canva Sans"/>
                <a:cs typeface="Canva Sans"/>
                <a:sym typeface="Canva Sans"/>
              </a:rPr>
              <a:t>d</a:t>
            </a:r>
            <a:r>
              <a:rPr lang="en-US" sz="2084" strike="noStrike" u="none">
                <a:solidFill>
                  <a:srgbClr val="000000"/>
                </a:solidFill>
                <a:latin typeface="Canva Sans"/>
                <a:ea typeface="Canva Sans"/>
                <a:cs typeface="Canva Sans"/>
                <a:sym typeface="Canva Sans"/>
              </a:rPr>
              <a:t>ations only, keeping</a:t>
            </a:r>
            <a:r>
              <a:rPr lang="en-US" sz="2084" strike="noStrike" u="none">
                <a:solidFill>
                  <a:srgbClr val="000000"/>
                </a:solidFill>
                <a:latin typeface="Canva Sans"/>
                <a:ea typeface="Canva Sans"/>
                <a:cs typeface="Canva Sans"/>
                <a:sym typeface="Canva Sans"/>
              </a:rPr>
              <a:t> </a:t>
            </a:r>
            <a:r>
              <a:rPr lang="en-US" sz="2084" strike="noStrike" u="none">
                <a:solidFill>
                  <a:srgbClr val="000000"/>
                </a:solidFill>
                <a:latin typeface="Canva Sans"/>
                <a:ea typeface="Canva Sans"/>
                <a:cs typeface="Canva Sans"/>
                <a:sym typeface="Canva Sans"/>
              </a:rPr>
              <a:t>f</a:t>
            </a:r>
            <a:r>
              <a:rPr lang="en-US" sz="2084" strike="noStrike" u="none">
                <a:solidFill>
                  <a:srgbClr val="000000"/>
                </a:solidFill>
                <a:latin typeface="Canva Sans"/>
                <a:ea typeface="Canva Sans"/>
                <a:cs typeface="Canva Sans"/>
                <a:sym typeface="Canva Sans"/>
              </a:rPr>
              <a:t>a</a:t>
            </a:r>
            <a:r>
              <a:rPr lang="en-US" sz="2084" strike="noStrike" u="none">
                <a:solidFill>
                  <a:srgbClr val="000000"/>
                </a:solidFill>
                <a:latin typeface="Canva Sans"/>
                <a:ea typeface="Canva Sans"/>
                <a:cs typeface="Canva Sans"/>
                <a:sym typeface="Canva Sans"/>
              </a:rPr>
              <a:t>rmers</a:t>
            </a:r>
            <a:r>
              <a:rPr lang="en-US" sz="2084" strike="noStrike" u="none">
                <a:solidFill>
                  <a:srgbClr val="000000"/>
                </a:solidFill>
                <a:latin typeface="Canva Sans"/>
                <a:ea typeface="Canva Sans"/>
                <a:cs typeface="Canva Sans"/>
                <a:sym typeface="Canva Sans"/>
              </a:rPr>
              <a:t> </a:t>
            </a:r>
            <a:r>
              <a:rPr lang="en-US" sz="2084" strike="noStrike" u="none">
                <a:solidFill>
                  <a:srgbClr val="000000"/>
                </a:solidFill>
                <a:latin typeface="Canva Sans"/>
                <a:ea typeface="Canva Sans"/>
                <a:cs typeface="Canva Sans"/>
                <a:sym typeface="Canva Sans"/>
              </a:rPr>
              <a:t>in fu</a:t>
            </a:r>
            <a:r>
              <a:rPr lang="en-US" sz="2084" strike="noStrike" u="none">
                <a:solidFill>
                  <a:srgbClr val="000000"/>
                </a:solidFill>
                <a:latin typeface="Canva Sans"/>
                <a:ea typeface="Canva Sans"/>
                <a:cs typeface="Canva Sans"/>
                <a:sym typeface="Canva Sans"/>
              </a:rPr>
              <a:t>l</a:t>
            </a:r>
            <a:r>
              <a:rPr lang="en-US" sz="2084" strike="noStrike" u="none">
                <a:solidFill>
                  <a:srgbClr val="000000"/>
                </a:solidFill>
                <a:latin typeface="Canva Sans"/>
                <a:ea typeface="Canva Sans"/>
                <a:cs typeface="Canva Sans"/>
                <a:sym typeface="Canva Sans"/>
              </a:rPr>
              <a:t>l control</a:t>
            </a:r>
          </a:p>
          <a:p>
            <a:pPr algn="just">
              <a:lnSpc>
                <a:spcPts val="2918"/>
              </a:lnSpc>
            </a:pPr>
            <a:r>
              <a:rPr lang="en-US" sz="2084" strike="noStrike" u="none">
                <a:solidFill>
                  <a:srgbClr val="000000"/>
                </a:solidFill>
                <a:latin typeface="Canva Sans"/>
                <a:ea typeface="Canva Sans"/>
                <a:cs typeface="Canva Sans"/>
                <a:sym typeface="Canva Sans"/>
              </a:rPr>
              <a:t>Bu</a:t>
            </a:r>
            <a:r>
              <a:rPr lang="en-US" sz="2084" strike="noStrike" u="none">
                <a:solidFill>
                  <a:srgbClr val="000000"/>
                </a:solidFill>
                <a:latin typeface="Canva Sans"/>
                <a:ea typeface="Canva Sans"/>
                <a:cs typeface="Canva Sans"/>
                <a:sym typeface="Canva Sans"/>
              </a:rPr>
              <a:t>i</a:t>
            </a:r>
            <a:r>
              <a:rPr lang="en-US" sz="2084" strike="noStrike" u="none">
                <a:solidFill>
                  <a:srgbClr val="000000"/>
                </a:solidFill>
                <a:latin typeface="Canva Sans"/>
                <a:ea typeface="Canva Sans"/>
                <a:cs typeface="Canva Sans"/>
                <a:sym typeface="Canva Sans"/>
              </a:rPr>
              <a:t>lds </a:t>
            </a:r>
            <a:r>
              <a:rPr lang="en-US" sz="2084" strike="noStrike" u="none">
                <a:solidFill>
                  <a:srgbClr val="000000"/>
                </a:solidFill>
                <a:latin typeface="Canva Sans"/>
                <a:ea typeface="Canva Sans"/>
                <a:cs typeface="Canva Sans"/>
                <a:sym typeface="Canva Sans"/>
              </a:rPr>
              <a:t>t</a:t>
            </a:r>
            <a:r>
              <a:rPr lang="en-US" sz="2084" strike="noStrike" u="none">
                <a:solidFill>
                  <a:srgbClr val="000000"/>
                </a:solidFill>
                <a:latin typeface="Canva Sans"/>
                <a:ea typeface="Canva Sans"/>
                <a:cs typeface="Canva Sans"/>
                <a:sym typeface="Canva Sans"/>
              </a:rPr>
              <a:t>rus</a:t>
            </a:r>
            <a:r>
              <a:rPr lang="en-US" sz="2084" strike="noStrike" u="none">
                <a:solidFill>
                  <a:srgbClr val="000000"/>
                </a:solidFill>
                <a:latin typeface="Canva Sans"/>
                <a:ea typeface="Canva Sans"/>
                <a:cs typeface="Canva Sans"/>
                <a:sym typeface="Canva Sans"/>
              </a:rPr>
              <a:t>t</a:t>
            </a:r>
            <a:r>
              <a:rPr lang="en-US" sz="2084" strike="noStrike" u="none">
                <a:solidFill>
                  <a:srgbClr val="000000"/>
                </a:solidFill>
                <a:latin typeface="Canva Sans"/>
                <a:ea typeface="Canva Sans"/>
                <a:cs typeface="Canva Sans"/>
                <a:sym typeface="Canva Sans"/>
              </a:rPr>
              <a:t> and avoids risk from fu</a:t>
            </a:r>
            <a:r>
              <a:rPr lang="en-US" sz="2084" strike="noStrike" u="none">
                <a:solidFill>
                  <a:srgbClr val="000000"/>
                </a:solidFill>
                <a:latin typeface="Canva Sans"/>
                <a:ea typeface="Canva Sans"/>
                <a:cs typeface="Canva Sans"/>
                <a:sym typeface="Canva Sans"/>
              </a:rPr>
              <a:t>l</a:t>
            </a:r>
            <a:r>
              <a:rPr lang="en-US" sz="2084" strike="noStrike" u="none">
                <a:solidFill>
                  <a:srgbClr val="000000"/>
                </a:solidFill>
                <a:latin typeface="Canva Sans"/>
                <a:ea typeface="Canva Sans"/>
                <a:cs typeface="Canva Sans"/>
                <a:sym typeface="Canva Sans"/>
              </a:rPr>
              <a:t>ly automat</a:t>
            </a:r>
            <a:r>
              <a:rPr lang="en-US" sz="2084" strike="noStrike" u="none">
                <a:solidFill>
                  <a:srgbClr val="000000"/>
                </a:solidFill>
                <a:latin typeface="Canva Sans"/>
                <a:ea typeface="Canva Sans"/>
                <a:cs typeface="Canva Sans"/>
                <a:sym typeface="Canva Sans"/>
              </a:rPr>
              <a:t>e</a:t>
            </a:r>
            <a:r>
              <a:rPr lang="en-US" sz="2084" strike="noStrike" u="none">
                <a:solidFill>
                  <a:srgbClr val="000000"/>
                </a:solidFill>
                <a:latin typeface="Canva Sans"/>
                <a:ea typeface="Canva Sans"/>
                <a:cs typeface="Canva Sans"/>
                <a:sym typeface="Canva Sans"/>
              </a:rPr>
              <a:t>d</a:t>
            </a:r>
            <a:r>
              <a:rPr lang="en-US" sz="2084" strike="noStrike" u="none">
                <a:solidFill>
                  <a:srgbClr val="000000"/>
                </a:solidFill>
                <a:latin typeface="Canva Sans"/>
                <a:ea typeface="Canva Sans"/>
                <a:cs typeface="Canva Sans"/>
                <a:sym typeface="Canva Sans"/>
              </a:rPr>
              <a:t> </a:t>
            </a:r>
            <a:r>
              <a:rPr lang="en-US" sz="2084" strike="noStrike" u="none">
                <a:solidFill>
                  <a:srgbClr val="000000"/>
                </a:solidFill>
                <a:latin typeface="Canva Sans"/>
                <a:ea typeface="Canva Sans"/>
                <a:cs typeface="Canva Sans"/>
                <a:sym typeface="Canva Sans"/>
              </a:rPr>
              <a:t>irrigation systems</a:t>
            </a:r>
          </a:p>
          <a:p>
            <a:pPr algn="just">
              <a:lnSpc>
                <a:spcPts val="2918"/>
              </a:lnSpc>
            </a:pPr>
          </a:p>
          <a:p>
            <a:pPr algn="just">
              <a:lnSpc>
                <a:spcPts val="2918"/>
              </a:lnSpc>
            </a:pPr>
            <a:r>
              <a:rPr lang="en-US" b="true" sz="2084" strike="noStrike" u="none">
                <a:solidFill>
                  <a:srgbClr val="000000"/>
                </a:solidFill>
                <a:latin typeface="Canva Sans Bold"/>
                <a:ea typeface="Canva Sans Bold"/>
                <a:cs typeface="Canva Sans Bold"/>
                <a:sym typeface="Canva Sans Bold"/>
              </a:rPr>
              <a:t>Agent-Based Reasoning Architecture</a:t>
            </a:r>
          </a:p>
          <a:p>
            <a:pPr algn="just">
              <a:lnSpc>
                <a:spcPts val="2918"/>
              </a:lnSpc>
            </a:pPr>
            <a:r>
              <a:rPr lang="en-US" sz="2084" strike="noStrike" u="none">
                <a:solidFill>
                  <a:srgbClr val="000000"/>
                </a:solidFill>
                <a:latin typeface="Canva Sans"/>
                <a:ea typeface="Canva Sans"/>
                <a:cs typeface="Canva Sans"/>
                <a:sym typeface="Canva Sans"/>
              </a:rPr>
              <a:t>Separate agents for data analysis, stress detection, and advisory</a:t>
            </a:r>
          </a:p>
          <a:p>
            <a:pPr algn="just">
              <a:lnSpc>
                <a:spcPts val="2918"/>
              </a:lnSpc>
            </a:pPr>
            <a:r>
              <a:rPr lang="en-US" sz="2084" strike="noStrike" u="none">
                <a:solidFill>
                  <a:srgbClr val="000000"/>
                </a:solidFill>
                <a:latin typeface="Canva Sans"/>
                <a:ea typeface="Canva Sans"/>
                <a:cs typeface="Canva Sans"/>
                <a:sym typeface="Canva Sans"/>
              </a:rPr>
              <a:t>Ena</a:t>
            </a:r>
            <a:r>
              <a:rPr lang="en-US" sz="2084" strike="noStrike" u="none">
                <a:solidFill>
                  <a:srgbClr val="000000"/>
                </a:solidFill>
                <a:latin typeface="Canva Sans"/>
                <a:ea typeface="Canva Sans"/>
                <a:cs typeface="Canva Sans"/>
                <a:sym typeface="Canva Sans"/>
              </a:rPr>
              <a:t>b</a:t>
            </a:r>
            <a:r>
              <a:rPr lang="en-US" sz="2084" strike="noStrike" u="none">
                <a:solidFill>
                  <a:srgbClr val="000000"/>
                </a:solidFill>
                <a:latin typeface="Canva Sans"/>
                <a:ea typeface="Canva Sans"/>
                <a:cs typeface="Canva Sans"/>
                <a:sym typeface="Canva Sans"/>
              </a:rPr>
              <a:t>les clearer explanat</a:t>
            </a:r>
            <a:r>
              <a:rPr lang="en-US" sz="2084" strike="noStrike" u="none">
                <a:solidFill>
                  <a:srgbClr val="000000"/>
                </a:solidFill>
                <a:latin typeface="Canva Sans"/>
                <a:ea typeface="Canva Sans"/>
                <a:cs typeface="Canva Sans"/>
                <a:sym typeface="Canva Sans"/>
              </a:rPr>
              <a:t>i</a:t>
            </a:r>
            <a:r>
              <a:rPr lang="en-US" sz="2084" strike="noStrike" u="none">
                <a:solidFill>
                  <a:srgbClr val="000000"/>
                </a:solidFill>
                <a:latin typeface="Canva Sans"/>
                <a:ea typeface="Canva Sans"/>
                <a:cs typeface="Canva Sans"/>
                <a:sym typeface="Canva Sans"/>
              </a:rPr>
              <a:t>ons and modular decision-making</a:t>
            </a:r>
          </a:p>
          <a:p>
            <a:pPr algn="just">
              <a:lnSpc>
                <a:spcPts val="2918"/>
              </a:lnSpc>
            </a:pPr>
          </a:p>
          <a:p>
            <a:pPr algn="just">
              <a:lnSpc>
                <a:spcPts val="2918"/>
              </a:lnSpc>
            </a:pPr>
            <a:r>
              <a:rPr lang="en-US" b="true" sz="2084" strike="noStrike" u="none">
                <a:solidFill>
                  <a:srgbClr val="000000"/>
                </a:solidFill>
                <a:latin typeface="Canva Sans Bold"/>
                <a:ea typeface="Canva Sans Bold"/>
                <a:cs typeface="Canva Sans Bold"/>
                <a:sym typeface="Canva Sans Bold"/>
              </a:rPr>
              <a:t>Context-Aware Irrigation Insights</a:t>
            </a:r>
          </a:p>
          <a:p>
            <a:pPr algn="just">
              <a:lnSpc>
                <a:spcPts val="2918"/>
              </a:lnSpc>
            </a:pPr>
            <a:r>
              <a:rPr lang="en-US" sz="2084" strike="noStrike" u="none">
                <a:solidFill>
                  <a:srgbClr val="000000"/>
                </a:solidFill>
                <a:latin typeface="Canva Sans"/>
                <a:ea typeface="Canva Sans"/>
                <a:cs typeface="Canva Sans"/>
                <a:sym typeface="Canva Sans"/>
              </a:rPr>
              <a:t>Combines soil moisture + weather + crop growth stage</a:t>
            </a:r>
          </a:p>
          <a:p>
            <a:pPr algn="just">
              <a:lnSpc>
                <a:spcPts val="2918"/>
              </a:lnSpc>
            </a:pPr>
            <a:r>
              <a:rPr lang="en-US" sz="2084" strike="noStrike" u="none">
                <a:solidFill>
                  <a:srgbClr val="000000"/>
                </a:solidFill>
                <a:latin typeface="Canva Sans"/>
                <a:ea typeface="Canva Sans"/>
                <a:cs typeface="Canva Sans"/>
                <a:sym typeface="Canva Sans"/>
              </a:rPr>
              <a:t>Moves beyond threshold-based irrigation rules</a:t>
            </a:r>
          </a:p>
          <a:p>
            <a:pPr algn="just">
              <a:lnSpc>
                <a:spcPts val="2918"/>
              </a:lnSpc>
            </a:pPr>
          </a:p>
          <a:p>
            <a:pPr algn="just">
              <a:lnSpc>
                <a:spcPts val="2918"/>
              </a:lnSpc>
            </a:pPr>
            <a:r>
              <a:rPr lang="en-US" b="true" sz="2084" strike="noStrike" u="none">
                <a:solidFill>
                  <a:srgbClr val="000000"/>
                </a:solidFill>
                <a:latin typeface="Canva Sans Bold"/>
                <a:ea typeface="Canva Sans Bold"/>
                <a:cs typeface="Canva Sans Bold"/>
                <a:sym typeface="Canva Sans Bold"/>
              </a:rPr>
              <a:t>Knowledge-Grounded Intelligence (RAG)</a:t>
            </a:r>
          </a:p>
          <a:p>
            <a:pPr algn="just">
              <a:lnSpc>
                <a:spcPts val="2918"/>
              </a:lnSpc>
            </a:pPr>
            <a:r>
              <a:rPr lang="en-US" sz="2084" strike="noStrike" u="none">
                <a:solidFill>
                  <a:srgbClr val="000000"/>
                </a:solidFill>
                <a:latin typeface="Canva Sans"/>
                <a:ea typeface="Canva Sans"/>
                <a:cs typeface="Canva Sans"/>
                <a:sym typeface="Canva Sans"/>
              </a:rPr>
              <a:t>       </a:t>
            </a:r>
            <a:r>
              <a:rPr lang="en-US" sz="2084" strike="noStrike" u="none">
                <a:solidFill>
                  <a:srgbClr val="000000"/>
                </a:solidFill>
                <a:latin typeface="Canva Sans"/>
                <a:ea typeface="Canva Sans"/>
                <a:cs typeface="Canva Sans"/>
                <a:sym typeface="Canva Sans"/>
              </a:rPr>
              <a:t>Veri</a:t>
            </a:r>
            <a:r>
              <a:rPr lang="en-US" sz="2084" strike="noStrike" u="none">
                <a:solidFill>
                  <a:srgbClr val="000000"/>
                </a:solidFill>
                <a:latin typeface="Canva Sans"/>
                <a:ea typeface="Canva Sans"/>
                <a:cs typeface="Canva Sans"/>
                <a:sym typeface="Canva Sans"/>
              </a:rPr>
              <a:t>f</a:t>
            </a:r>
            <a:r>
              <a:rPr lang="en-US" sz="2084" strike="noStrike" u="none">
                <a:solidFill>
                  <a:srgbClr val="000000"/>
                </a:solidFill>
                <a:latin typeface="Canva Sans"/>
                <a:ea typeface="Canva Sans"/>
                <a:cs typeface="Canva Sans"/>
                <a:sym typeface="Canva Sans"/>
              </a:rPr>
              <a:t>ied</a:t>
            </a:r>
            <a:r>
              <a:rPr lang="en-US" sz="2084" strike="noStrike" u="none">
                <a:solidFill>
                  <a:srgbClr val="000000"/>
                </a:solidFill>
                <a:latin typeface="Canva Sans"/>
                <a:ea typeface="Canva Sans"/>
                <a:cs typeface="Canva Sans"/>
                <a:sym typeface="Canva Sans"/>
              </a:rPr>
              <a:t> </a:t>
            </a:r>
            <a:r>
              <a:rPr lang="en-US" sz="2084" strike="noStrike" u="none">
                <a:solidFill>
                  <a:srgbClr val="000000"/>
                </a:solidFill>
                <a:latin typeface="Canva Sans"/>
                <a:ea typeface="Canva Sans"/>
                <a:cs typeface="Canva Sans"/>
                <a:sym typeface="Canva Sans"/>
              </a:rPr>
              <a:t>irrigation guidelines</a:t>
            </a:r>
          </a:p>
          <a:p>
            <a:pPr algn="just">
              <a:lnSpc>
                <a:spcPts val="2918"/>
              </a:lnSpc>
            </a:pPr>
            <a:r>
              <a:rPr lang="en-US" sz="2084" strike="noStrike" u="none">
                <a:solidFill>
                  <a:srgbClr val="000000"/>
                </a:solidFill>
                <a:latin typeface="Canva Sans"/>
                <a:ea typeface="Canva Sans"/>
                <a:cs typeface="Canva Sans"/>
                <a:sym typeface="Canva Sans"/>
              </a:rPr>
              <a:t>       </a:t>
            </a:r>
            <a:r>
              <a:rPr lang="en-US" sz="2084" strike="noStrike" u="none">
                <a:solidFill>
                  <a:srgbClr val="000000"/>
                </a:solidFill>
                <a:latin typeface="Canva Sans"/>
                <a:ea typeface="Canva Sans"/>
                <a:cs typeface="Canva Sans"/>
                <a:sym typeface="Canva Sans"/>
              </a:rPr>
              <a:t>Sustaina</a:t>
            </a:r>
            <a:r>
              <a:rPr lang="en-US" sz="2084" strike="noStrike" u="none">
                <a:solidFill>
                  <a:srgbClr val="000000"/>
                </a:solidFill>
                <a:latin typeface="Canva Sans"/>
                <a:ea typeface="Canva Sans"/>
                <a:cs typeface="Canva Sans"/>
                <a:sym typeface="Canva Sans"/>
              </a:rPr>
              <a:t>b</a:t>
            </a:r>
            <a:r>
              <a:rPr lang="en-US" sz="2084" strike="noStrike" u="none">
                <a:solidFill>
                  <a:srgbClr val="000000"/>
                </a:solidFill>
                <a:latin typeface="Canva Sans"/>
                <a:ea typeface="Canva Sans"/>
                <a:cs typeface="Canva Sans"/>
                <a:sym typeface="Canva Sans"/>
              </a:rPr>
              <a:t>le water management framew</a:t>
            </a:r>
            <a:r>
              <a:rPr lang="en-US" sz="2084" strike="noStrike" u="none">
                <a:solidFill>
                  <a:srgbClr val="000000"/>
                </a:solidFill>
                <a:latin typeface="Canva Sans"/>
                <a:ea typeface="Canva Sans"/>
                <a:cs typeface="Canva Sans"/>
                <a:sym typeface="Canva Sans"/>
              </a:rPr>
              <a:t>o</a:t>
            </a:r>
            <a:r>
              <a:rPr lang="en-US" sz="2084" strike="noStrike" u="none">
                <a:solidFill>
                  <a:srgbClr val="000000"/>
                </a:solidFill>
                <a:latin typeface="Canva Sans"/>
                <a:ea typeface="Canva Sans"/>
                <a:cs typeface="Canva Sans"/>
                <a:sym typeface="Canva Sans"/>
              </a:rPr>
              <a:t>rks</a:t>
            </a:r>
          </a:p>
          <a:p>
            <a:pPr algn="just">
              <a:lnSpc>
                <a:spcPts val="2918"/>
              </a:lnSpc>
            </a:pPr>
            <a:r>
              <a:rPr lang="en-US" sz="2084" strike="noStrike" u="none">
                <a:solidFill>
                  <a:srgbClr val="000000"/>
                </a:solidFill>
                <a:latin typeface="Canva Sans"/>
                <a:ea typeface="Canva Sans"/>
                <a:cs typeface="Canva Sans"/>
                <a:sym typeface="Canva Sans"/>
              </a:rPr>
              <a:t>Re</a:t>
            </a:r>
            <a:r>
              <a:rPr lang="en-US" sz="2084" strike="noStrike" u="none">
                <a:solidFill>
                  <a:srgbClr val="000000"/>
                </a:solidFill>
                <a:latin typeface="Canva Sans"/>
                <a:ea typeface="Canva Sans"/>
                <a:cs typeface="Canva Sans"/>
                <a:sym typeface="Canva Sans"/>
              </a:rPr>
              <a:t>d</a:t>
            </a:r>
            <a:r>
              <a:rPr lang="en-US" sz="2084" strike="noStrike" u="none">
                <a:solidFill>
                  <a:srgbClr val="000000"/>
                </a:solidFill>
                <a:latin typeface="Canva Sans"/>
                <a:ea typeface="Canva Sans"/>
                <a:cs typeface="Canva Sans"/>
                <a:sym typeface="Canva Sans"/>
              </a:rPr>
              <a:t>uces hallucination and improves reliabilit</a:t>
            </a:r>
            <a:r>
              <a:rPr lang="en-US" sz="2084" strike="noStrike" u="none">
                <a:solidFill>
                  <a:srgbClr val="000000"/>
                </a:solidFill>
                <a:latin typeface="Canva Sans"/>
                <a:ea typeface="Canva Sans"/>
                <a:cs typeface="Canva Sans"/>
                <a:sym typeface="Canva Sans"/>
              </a:rPr>
              <a:t>y</a:t>
            </a:r>
          </a:p>
          <a:p>
            <a:pPr algn="just">
              <a:lnSpc>
                <a:spcPts val="2918"/>
              </a:lnSpc>
            </a:pPr>
          </a:p>
          <a:p>
            <a:pPr algn="just">
              <a:lnSpc>
                <a:spcPts val="2918"/>
              </a:lnSpc>
            </a:pPr>
            <a:r>
              <a:rPr lang="en-US" b="true" sz="2084" strike="noStrike" u="none">
                <a:solidFill>
                  <a:srgbClr val="000000"/>
                </a:solidFill>
                <a:latin typeface="Canva Sans Bold"/>
                <a:ea typeface="Canva Sans Bold"/>
                <a:cs typeface="Canva Sans Bold"/>
                <a:sym typeface="Canva Sans Bold"/>
              </a:rPr>
              <a:t>Designed for Resource-Constrained Farming</a:t>
            </a:r>
          </a:p>
          <a:p>
            <a:pPr algn="just">
              <a:lnSpc>
                <a:spcPts val="2918"/>
              </a:lnSpc>
            </a:pPr>
            <a:r>
              <a:rPr lang="en-US" sz="2084" strike="noStrike" u="none">
                <a:solidFill>
                  <a:srgbClr val="000000"/>
                </a:solidFill>
                <a:latin typeface="Canva Sans"/>
                <a:ea typeface="Canva Sans"/>
                <a:cs typeface="Canva Sans"/>
                <a:sym typeface="Canva Sans"/>
              </a:rPr>
              <a:t>Works with minimal sensors and public wea</a:t>
            </a:r>
            <a:r>
              <a:rPr lang="en-US" sz="2084" strike="noStrike" u="none">
                <a:solidFill>
                  <a:srgbClr val="000000"/>
                </a:solidFill>
                <a:latin typeface="Canva Sans"/>
                <a:ea typeface="Canva Sans"/>
                <a:cs typeface="Canva Sans"/>
                <a:sym typeface="Canva Sans"/>
              </a:rPr>
              <a:t>t</a:t>
            </a:r>
            <a:r>
              <a:rPr lang="en-US" sz="2084" strike="noStrike" u="none">
                <a:solidFill>
                  <a:srgbClr val="000000"/>
                </a:solidFill>
                <a:latin typeface="Canva Sans"/>
                <a:ea typeface="Canva Sans"/>
                <a:cs typeface="Canva Sans"/>
                <a:sym typeface="Canva Sans"/>
              </a:rPr>
              <a:t>her data</a:t>
            </a:r>
          </a:p>
          <a:p>
            <a:pPr algn="just">
              <a:lnSpc>
                <a:spcPts val="2918"/>
              </a:lnSpc>
            </a:pPr>
            <a:r>
              <a:rPr lang="en-US" sz="2084" strike="noStrike" u="none">
                <a:solidFill>
                  <a:srgbClr val="000000"/>
                </a:solidFill>
                <a:latin typeface="Canva Sans"/>
                <a:ea typeface="Canva Sans"/>
                <a:cs typeface="Canva Sans"/>
                <a:sym typeface="Canva Sans"/>
              </a:rPr>
              <a:t>Scalable from small farms to larger deployments</a:t>
            </a:r>
          </a:p>
          <a:p>
            <a:pPr algn="just">
              <a:lnSpc>
                <a:spcPts val="2918"/>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83787" y="1838909"/>
            <a:ext cx="14520425" cy="7380380"/>
            <a:chOff x="0" y="0"/>
            <a:chExt cx="17608106" cy="8949773"/>
          </a:xfrm>
        </p:grpSpPr>
        <p:sp>
          <p:nvSpPr>
            <p:cNvPr name="Freeform 3" id="3"/>
            <p:cNvSpPr/>
            <p:nvPr/>
          </p:nvSpPr>
          <p:spPr>
            <a:xfrm flipH="false" flipV="false" rot="0">
              <a:off x="0" y="0"/>
              <a:ext cx="17608042" cy="8949811"/>
            </a:xfrm>
            <a:custGeom>
              <a:avLst/>
              <a:gdLst/>
              <a:ahLst/>
              <a:cxnLst/>
              <a:rect r="r" b="b" t="t" l="l"/>
              <a:pathLst>
                <a:path h="8949811" w="17608042">
                  <a:moveTo>
                    <a:pt x="0" y="0"/>
                  </a:moveTo>
                  <a:lnTo>
                    <a:pt x="17608042" y="0"/>
                  </a:lnTo>
                  <a:lnTo>
                    <a:pt x="17608042" y="8949811"/>
                  </a:lnTo>
                  <a:lnTo>
                    <a:pt x="0" y="8949811"/>
                  </a:lnTo>
                  <a:lnTo>
                    <a:pt x="0" y="0"/>
                  </a:lnTo>
                  <a:close/>
                </a:path>
              </a:pathLst>
            </a:custGeom>
            <a:blipFill>
              <a:blip r:embed="rId3"/>
              <a:stretch>
                <a:fillRect l="0" t="-3656" r="0" b="-3656"/>
              </a:stretch>
            </a:blipFill>
          </p:spPr>
        </p:sp>
      </p:grpSp>
      <p:sp>
        <p:nvSpPr>
          <p:cNvPr name="TextBox 4" id="4"/>
          <p:cNvSpPr txBox="true"/>
          <p:nvPr/>
        </p:nvSpPr>
        <p:spPr>
          <a:xfrm rot="0">
            <a:off x="3079556" y="699606"/>
            <a:ext cx="12128887" cy="629612"/>
          </a:xfrm>
          <a:prstGeom prst="rect">
            <a:avLst/>
          </a:prstGeom>
        </p:spPr>
        <p:txBody>
          <a:bodyPr anchor="t" rtlCol="false" tIns="0" lIns="0" bIns="0" rIns="0">
            <a:spAutoFit/>
          </a:bodyPr>
          <a:lstStyle/>
          <a:p>
            <a:pPr algn="ctr">
              <a:lnSpc>
                <a:spcPts val="4320"/>
              </a:lnSpc>
            </a:pPr>
            <a:r>
              <a:rPr lang="en-US" sz="3600" b="true">
                <a:solidFill>
                  <a:srgbClr val="000000"/>
                </a:solidFill>
                <a:latin typeface="Arial Bold"/>
                <a:ea typeface="Arial Bold"/>
                <a:cs typeface="Arial Bold"/>
                <a:sym typeface="Arial Bold"/>
              </a:rPr>
              <a:t>Technical flow diagram - Architecture blueprint</a:t>
            </a:r>
          </a:p>
        </p:txBody>
      </p:sp>
      <p:grpSp>
        <p:nvGrpSpPr>
          <p:cNvPr name="Group 5" id="5"/>
          <p:cNvGrpSpPr/>
          <p:nvPr/>
        </p:nvGrpSpPr>
        <p:grpSpPr>
          <a:xfrm rot="0">
            <a:off x="539252" y="9483935"/>
            <a:ext cx="17245047" cy="454421"/>
            <a:chOff x="0" y="0"/>
            <a:chExt cx="23532577" cy="620103"/>
          </a:xfrm>
        </p:grpSpPr>
        <p:sp>
          <p:nvSpPr>
            <p:cNvPr name="Freeform 6" id="6"/>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4"/>
              <a:stretch>
                <a:fillRect l="0" t="-264" r="0" b="-258"/>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000125"/>
            <a:ext cx="8863394" cy="571500"/>
          </a:xfrm>
          <a:prstGeom prst="rect">
            <a:avLst/>
          </a:prstGeom>
        </p:spPr>
        <p:txBody>
          <a:bodyPr anchor="t" rtlCol="false" tIns="0" lIns="0" bIns="0" rIns="0">
            <a:spAutoFit/>
          </a:bodyPr>
          <a:lstStyle/>
          <a:p>
            <a:pPr algn="l">
              <a:lnSpc>
                <a:spcPts val="4320"/>
              </a:lnSpc>
            </a:pPr>
            <a:r>
              <a:rPr lang="en-US" b="true" sz="3600">
                <a:solidFill>
                  <a:srgbClr val="051D3A"/>
                </a:solidFill>
                <a:latin typeface="Arial Bold"/>
                <a:ea typeface="Arial Bold"/>
                <a:cs typeface="Arial Bold"/>
                <a:sym typeface="Arial Bold"/>
              </a:rPr>
              <a:t>Langflow components Used </a:t>
            </a:r>
          </a:p>
        </p:txBody>
      </p:sp>
      <p:sp>
        <p:nvSpPr>
          <p:cNvPr name="TextBox 3" id="3"/>
          <p:cNvSpPr txBox="true"/>
          <p:nvPr/>
        </p:nvSpPr>
        <p:spPr>
          <a:xfrm rot="0">
            <a:off x="1028700" y="2125989"/>
            <a:ext cx="12050144" cy="4013835"/>
          </a:xfrm>
          <a:prstGeom prst="rect">
            <a:avLst/>
          </a:prstGeom>
        </p:spPr>
        <p:txBody>
          <a:bodyPr anchor="t" rtlCol="false" tIns="0" lIns="0" bIns="0" rIns="0">
            <a:spAutoFit/>
          </a:bodyPr>
          <a:lstStyle/>
          <a:p>
            <a:pPr algn="l" marL="434339" indent="-217169" lvl="1">
              <a:lnSpc>
                <a:spcPts val="3599"/>
              </a:lnSpc>
              <a:buFont typeface="Arial"/>
              <a:buChar char="•"/>
            </a:pPr>
            <a:r>
              <a:rPr lang="en-US" sz="2399">
                <a:solidFill>
                  <a:srgbClr val="000000"/>
                </a:solidFill>
                <a:latin typeface="Arial"/>
                <a:ea typeface="Arial"/>
                <a:cs typeface="Arial"/>
                <a:sym typeface="Arial"/>
              </a:rPr>
              <a:t>Chat In</a:t>
            </a:r>
            <a:r>
              <a:rPr lang="en-US" sz="2399">
                <a:solidFill>
                  <a:srgbClr val="000000"/>
                </a:solidFill>
                <a:latin typeface="Arial"/>
                <a:ea typeface="Arial"/>
                <a:cs typeface="Arial"/>
                <a:sym typeface="Arial"/>
              </a:rPr>
              <a:t>put – Ingests soil, weather, and crop-related data for analysis</a:t>
            </a:r>
          </a:p>
          <a:p>
            <a:pPr algn="l" marL="434339" indent="-217169" lvl="1">
              <a:lnSpc>
                <a:spcPts val="3599"/>
              </a:lnSpc>
              <a:buFont typeface="Arial"/>
              <a:buChar char="•"/>
            </a:pPr>
            <a:r>
              <a:rPr lang="en-US" sz="2399">
                <a:solidFill>
                  <a:srgbClr val="000000"/>
                </a:solidFill>
                <a:latin typeface="Arial"/>
                <a:ea typeface="Arial"/>
                <a:cs typeface="Arial"/>
                <a:sym typeface="Arial"/>
              </a:rPr>
              <a:t>Multi-Agent Nodes – Modular agents for data analysis, stress detection, and irrigation advisory</a:t>
            </a:r>
          </a:p>
          <a:p>
            <a:pPr algn="l" marL="434339" indent="-217169" lvl="1">
              <a:lnSpc>
                <a:spcPts val="3599"/>
              </a:lnSpc>
              <a:buFont typeface="Arial"/>
              <a:buChar char="•"/>
            </a:pPr>
            <a:r>
              <a:rPr lang="en-US" sz="2399">
                <a:solidFill>
                  <a:srgbClr val="000000"/>
                </a:solidFill>
                <a:latin typeface="Arial"/>
                <a:ea typeface="Arial"/>
                <a:cs typeface="Arial"/>
                <a:sym typeface="Arial"/>
              </a:rPr>
              <a:t>IBM Granite Model – Powers reasoning and explainable insights across all agents</a:t>
            </a:r>
          </a:p>
          <a:p>
            <a:pPr algn="l" marL="434339" indent="-217169" lvl="1">
              <a:lnSpc>
                <a:spcPts val="3599"/>
              </a:lnSpc>
              <a:buFont typeface="Arial"/>
              <a:buChar char="•"/>
            </a:pPr>
            <a:r>
              <a:rPr lang="en-US" sz="2399">
                <a:solidFill>
                  <a:srgbClr val="000000"/>
                </a:solidFill>
                <a:latin typeface="Arial"/>
                <a:ea typeface="Arial"/>
                <a:cs typeface="Arial"/>
                <a:sym typeface="Arial"/>
              </a:rPr>
              <a:t>Mock Data (RAG Source) – Provides grounded irrigation and sustainability guidelines</a:t>
            </a:r>
          </a:p>
          <a:p>
            <a:pPr algn="l" marL="434339" indent="-217169" lvl="1">
              <a:lnSpc>
                <a:spcPts val="3599"/>
              </a:lnSpc>
              <a:buFont typeface="Arial"/>
              <a:buChar char="•"/>
            </a:pPr>
            <a:r>
              <a:rPr lang="en-US" sz="2399">
                <a:solidFill>
                  <a:srgbClr val="000000"/>
                </a:solidFill>
                <a:latin typeface="Arial"/>
                <a:ea typeface="Arial"/>
                <a:cs typeface="Arial"/>
                <a:sym typeface="Arial"/>
              </a:rPr>
              <a:t>Tool Mode – Enables controlled knowledge retrieval for advisory generation</a:t>
            </a:r>
          </a:p>
          <a:p>
            <a:pPr algn="l" marL="434339" indent="-217169" lvl="1">
              <a:lnSpc>
                <a:spcPts val="3599"/>
              </a:lnSpc>
              <a:buFont typeface="Arial"/>
              <a:buChar char="•"/>
            </a:pPr>
            <a:r>
              <a:rPr lang="en-US" sz="2399">
                <a:solidFill>
                  <a:srgbClr val="000000"/>
                </a:solidFill>
                <a:latin typeface="Arial"/>
                <a:ea typeface="Arial"/>
                <a:cs typeface="Arial"/>
                <a:sym typeface="Arial"/>
              </a:rPr>
              <a:t>Agent Chaining – Ensures structured flow from analysis to decision support</a:t>
            </a:r>
          </a:p>
          <a:p>
            <a:pPr algn="l" marL="434339" indent="-217169" lvl="1">
              <a:lnSpc>
                <a:spcPts val="3599"/>
              </a:lnSpc>
              <a:buFont typeface="Arial"/>
              <a:buChar char="•"/>
            </a:pPr>
            <a:r>
              <a:rPr lang="en-US" sz="2399">
                <a:solidFill>
                  <a:srgbClr val="000000"/>
                </a:solidFill>
                <a:latin typeface="Arial"/>
                <a:ea typeface="Arial"/>
                <a:cs typeface="Arial"/>
                <a:sym typeface="Arial"/>
              </a:rPr>
              <a:t>Chat Output – Delivers clear, assistive irrigation insights to users</a:t>
            </a:r>
          </a:p>
          <a:p>
            <a:pPr algn="l">
              <a:lnSpc>
                <a:spcPts val="3599"/>
              </a:lnSpc>
            </a:pPr>
          </a:p>
        </p:txBody>
      </p:sp>
      <p:grpSp>
        <p:nvGrpSpPr>
          <p:cNvPr name="Group 4" id="4"/>
          <p:cNvGrpSpPr/>
          <p:nvPr/>
        </p:nvGrpSpPr>
        <p:grpSpPr>
          <a:xfrm rot="0">
            <a:off x="539252" y="9483935"/>
            <a:ext cx="17245047" cy="454421"/>
            <a:chOff x="0" y="0"/>
            <a:chExt cx="23532577" cy="620103"/>
          </a:xfrm>
        </p:grpSpPr>
        <p:sp>
          <p:nvSpPr>
            <p:cNvPr name="Freeform 5" id="5"/>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3"/>
              <a:stretch>
                <a:fillRect l="0" t="-264" r="0" b="-258"/>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17143" y="1437038"/>
            <a:ext cx="13516089" cy="7821262"/>
            <a:chOff x="0" y="0"/>
            <a:chExt cx="17692014" cy="10237716"/>
          </a:xfrm>
        </p:grpSpPr>
        <p:sp>
          <p:nvSpPr>
            <p:cNvPr name="Freeform 3" id="3"/>
            <p:cNvSpPr/>
            <p:nvPr/>
          </p:nvSpPr>
          <p:spPr>
            <a:xfrm flipH="false" flipV="false" rot="0">
              <a:off x="0" y="0"/>
              <a:ext cx="17691988" cy="10237669"/>
            </a:xfrm>
            <a:custGeom>
              <a:avLst/>
              <a:gdLst/>
              <a:ahLst/>
              <a:cxnLst/>
              <a:rect r="r" b="b" t="t" l="l"/>
              <a:pathLst>
                <a:path h="10237669" w="17691988">
                  <a:moveTo>
                    <a:pt x="0" y="0"/>
                  </a:moveTo>
                  <a:lnTo>
                    <a:pt x="17691988" y="0"/>
                  </a:lnTo>
                  <a:lnTo>
                    <a:pt x="17691988" y="10237669"/>
                  </a:lnTo>
                  <a:lnTo>
                    <a:pt x="0" y="10237669"/>
                  </a:lnTo>
                  <a:lnTo>
                    <a:pt x="0" y="0"/>
                  </a:lnTo>
                  <a:close/>
                </a:path>
              </a:pathLst>
            </a:custGeom>
            <a:blipFill>
              <a:blip r:embed="rId3"/>
              <a:stretch>
                <a:fillRect l="0" t="-871" r="0" b="-871"/>
              </a:stretch>
            </a:blipFill>
          </p:spPr>
        </p:sp>
      </p:grpSp>
      <p:grpSp>
        <p:nvGrpSpPr>
          <p:cNvPr name="Group 4" id="4"/>
          <p:cNvGrpSpPr/>
          <p:nvPr/>
        </p:nvGrpSpPr>
        <p:grpSpPr>
          <a:xfrm rot="0">
            <a:off x="539252" y="9483935"/>
            <a:ext cx="17245047" cy="454421"/>
            <a:chOff x="0" y="0"/>
            <a:chExt cx="23532577" cy="620103"/>
          </a:xfrm>
        </p:grpSpPr>
        <p:sp>
          <p:nvSpPr>
            <p:cNvPr name="Freeform 5" id="5"/>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4"/>
              <a:stretch>
                <a:fillRect l="0" t="-264" r="0" b="-258"/>
              </a:stretch>
            </a:blipFill>
          </p:spPr>
        </p:sp>
      </p:grpSp>
      <p:sp>
        <p:nvSpPr>
          <p:cNvPr name="TextBox 6" id="6"/>
          <p:cNvSpPr txBox="true"/>
          <p:nvPr/>
        </p:nvSpPr>
        <p:spPr>
          <a:xfrm rot="0">
            <a:off x="1349607" y="318249"/>
            <a:ext cx="6843227"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Input Screenshot 1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53581" y="1165583"/>
            <a:ext cx="9980838" cy="8318352"/>
            <a:chOff x="0" y="0"/>
            <a:chExt cx="17692014" cy="14745096"/>
          </a:xfrm>
        </p:grpSpPr>
        <p:sp>
          <p:nvSpPr>
            <p:cNvPr name="Freeform 3" id="3"/>
            <p:cNvSpPr/>
            <p:nvPr/>
          </p:nvSpPr>
          <p:spPr>
            <a:xfrm flipH="false" flipV="false" rot="0">
              <a:off x="0" y="0"/>
              <a:ext cx="17691988" cy="14745029"/>
            </a:xfrm>
            <a:custGeom>
              <a:avLst/>
              <a:gdLst/>
              <a:ahLst/>
              <a:cxnLst/>
              <a:rect r="r" b="b" t="t" l="l"/>
              <a:pathLst>
                <a:path h="14745029" w="17691988">
                  <a:moveTo>
                    <a:pt x="0" y="0"/>
                  </a:moveTo>
                  <a:lnTo>
                    <a:pt x="17691988" y="0"/>
                  </a:lnTo>
                  <a:lnTo>
                    <a:pt x="17691988" y="14745029"/>
                  </a:lnTo>
                  <a:lnTo>
                    <a:pt x="0" y="14745029"/>
                  </a:lnTo>
                  <a:lnTo>
                    <a:pt x="0" y="0"/>
                  </a:lnTo>
                  <a:close/>
                </a:path>
              </a:pathLst>
            </a:custGeom>
            <a:blipFill>
              <a:blip r:embed="rId3"/>
              <a:stretch>
                <a:fillRect l="0" t="-85" r="0" b="-85"/>
              </a:stretch>
            </a:blipFill>
          </p:spPr>
        </p:sp>
      </p:grpSp>
      <p:grpSp>
        <p:nvGrpSpPr>
          <p:cNvPr name="Group 4" id="4"/>
          <p:cNvGrpSpPr/>
          <p:nvPr/>
        </p:nvGrpSpPr>
        <p:grpSpPr>
          <a:xfrm rot="0">
            <a:off x="539252" y="9483935"/>
            <a:ext cx="17245047" cy="454421"/>
            <a:chOff x="0" y="0"/>
            <a:chExt cx="23532577" cy="620103"/>
          </a:xfrm>
        </p:grpSpPr>
        <p:sp>
          <p:nvSpPr>
            <p:cNvPr name="Freeform 5" id="5"/>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4"/>
              <a:stretch>
                <a:fillRect l="0" t="-264" r="0" b="-258"/>
              </a:stretch>
            </a:blipFill>
          </p:spPr>
        </p:sp>
      </p:grpSp>
      <p:sp>
        <p:nvSpPr>
          <p:cNvPr name="TextBox 6" id="6"/>
          <p:cNvSpPr txBox="true"/>
          <p:nvPr/>
        </p:nvSpPr>
        <p:spPr>
          <a:xfrm rot="0">
            <a:off x="1689421" y="225581"/>
            <a:ext cx="7708192" cy="629631"/>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Output Screenshot 1</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666750"/>
            <a:ext cx="9666742" cy="1152532"/>
          </a:xfrm>
          <a:prstGeom prst="rect">
            <a:avLst/>
          </a:prstGeom>
        </p:spPr>
        <p:txBody>
          <a:bodyPr anchor="t" rtlCol="false" tIns="0" lIns="0" bIns="0" rIns="0">
            <a:spAutoFit/>
          </a:bodyPr>
          <a:lstStyle/>
          <a:p>
            <a:pPr algn="l">
              <a:lnSpc>
                <a:spcPts val="9899"/>
              </a:lnSpc>
            </a:pPr>
            <a:r>
              <a:rPr lang="en-US" sz="5250">
                <a:solidFill>
                  <a:srgbClr val="051D3A"/>
                </a:solidFill>
                <a:latin typeface="Arial"/>
                <a:ea typeface="Arial"/>
                <a:cs typeface="Arial"/>
                <a:sym typeface="Arial"/>
              </a:rPr>
              <a:t>Future Scope </a:t>
            </a:r>
          </a:p>
        </p:txBody>
      </p:sp>
      <p:grpSp>
        <p:nvGrpSpPr>
          <p:cNvPr name="Group 3" id="3"/>
          <p:cNvGrpSpPr/>
          <p:nvPr/>
        </p:nvGrpSpPr>
        <p:grpSpPr>
          <a:xfrm rot="0">
            <a:off x="539252" y="9483935"/>
            <a:ext cx="17245047" cy="454421"/>
            <a:chOff x="0" y="0"/>
            <a:chExt cx="23532577" cy="620103"/>
          </a:xfrm>
        </p:grpSpPr>
        <p:sp>
          <p:nvSpPr>
            <p:cNvPr name="Freeform 4" id="4"/>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3"/>
              <a:stretch>
                <a:fillRect l="0" t="-264" r="0" b="-258"/>
              </a:stretch>
            </a:blipFill>
          </p:spPr>
        </p:sp>
      </p:grpSp>
      <p:sp>
        <p:nvSpPr>
          <p:cNvPr name="TextBox 5" id="5"/>
          <p:cNvSpPr txBox="true"/>
          <p:nvPr/>
        </p:nvSpPr>
        <p:spPr>
          <a:xfrm rot="0">
            <a:off x="1028700" y="2411730"/>
            <a:ext cx="11888343" cy="6682739"/>
          </a:xfrm>
          <a:prstGeom prst="rect">
            <a:avLst/>
          </a:prstGeom>
        </p:spPr>
        <p:txBody>
          <a:bodyPr anchor="t" rtlCol="false" tIns="0" lIns="0" bIns="0" rIns="0">
            <a:spAutoFit/>
          </a:bodyPr>
          <a:lstStyle/>
          <a:p>
            <a:pPr algn="just" marL="518165" indent="-259082" lvl="1">
              <a:lnSpc>
                <a:spcPts val="3360"/>
              </a:lnSpc>
              <a:buFont typeface="Arial"/>
              <a:buChar char="•"/>
            </a:pPr>
            <a:r>
              <a:rPr lang="en-US" sz="2400">
                <a:solidFill>
                  <a:srgbClr val="000000"/>
                </a:solidFill>
                <a:latin typeface="Canva Sans"/>
                <a:ea typeface="Canva Sans"/>
                <a:cs typeface="Canva Sans"/>
                <a:sym typeface="Canva Sans"/>
              </a:rPr>
              <a:t>Expanded Data Sources</a:t>
            </a:r>
          </a:p>
          <a:p>
            <a:pPr algn="just" marL="1036330" indent="-345443" lvl="2">
              <a:lnSpc>
                <a:spcPts val="3360"/>
              </a:lnSpc>
              <a:buFont typeface="Arial"/>
              <a:buChar char="⚬"/>
            </a:pPr>
            <a:r>
              <a:rPr lang="en-US" sz="2400">
                <a:solidFill>
                  <a:srgbClr val="000000"/>
                </a:solidFill>
                <a:latin typeface="Canva Sans"/>
                <a:ea typeface="Canva Sans"/>
                <a:cs typeface="Canva Sans"/>
                <a:sym typeface="Canva Sans"/>
              </a:rPr>
              <a:t>Integration with satellite imagery and remote sensing</a:t>
            </a:r>
          </a:p>
          <a:p>
            <a:pPr algn="just" marL="1036330" indent="-345443" lvl="2">
              <a:lnSpc>
                <a:spcPts val="3360"/>
              </a:lnSpc>
              <a:buFont typeface="Arial"/>
              <a:buChar char="⚬"/>
            </a:pPr>
            <a:r>
              <a:rPr lang="en-US" sz="2400">
                <a:solidFill>
                  <a:srgbClr val="000000"/>
                </a:solidFill>
                <a:latin typeface="Canva Sans"/>
                <a:ea typeface="Canva Sans"/>
                <a:cs typeface="Canva Sans"/>
                <a:sym typeface="Canva Sans"/>
              </a:rPr>
              <a:t>Real-time IoT sensor networks for higher precision</a:t>
            </a:r>
          </a:p>
          <a:p>
            <a:pPr algn="just">
              <a:lnSpc>
                <a:spcPts val="3360"/>
              </a:lnSpc>
            </a:pPr>
          </a:p>
          <a:p>
            <a:pPr algn="just" marL="518165" indent="-259082" lvl="1">
              <a:lnSpc>
                <a:spcPts val="3360"/>
              </a:lnSpc>
              <a:spcBef>
                <a:spcPct val="0"/>
              </a:spcBef>
              <a:buFont typeface="Arial"/>
              <a:buChar char="•"/>
            </a:pPr>
            <a:r>
              <a:rPr lang="en-US" sz="2400" strike="noStrike" u="none">
                <a:solidFill>
                  <a:srgbClr val="000000"/>
                </a:solidFill>
                <a:latin typeface="Canva Sans"/>
                <a:ea typeface="Canva Sans"/>
                <a:cs typeface="Canva Sans"/>
                <a:sym typeface="Canva Sans"/>
              </a:rPr>
              <a:t>Advanced Intelligence</a:t>
            </a:r>
          </a:p>
          <a:p>
            <a:pPr algn="just" marL="1036330" indent="-345443" lvl="2">
              <a:lnSpc>
                <a:spcPts val="3360"/>
              </a:lnSpc>
              <a:spcBef>
                <a:spcPct val="0"/>
              </a:spcBef>
              <a:buFont typeface="Arial"/>
              <a:buChar char="⚬"/>
            </a:pPr>
            <a:r>
              <a:rPr lang="en-US" sz="2400" strike="noStrike" u="none">
                <a:solidFill>
                  <a:srgbClr val="000000"/>
                </a:solidFill>
                <a:latin typeface="Canva Sans"/>
                <a:ea typeface="Canva Sans"/>
                <a:cs typeface="Canva Sans"/>
                <a:sym typeface="Canva Sans"/>
              </a:rPr>
              <a:t>Predictive irrig</a:t>
            </a:r>
            <a:r>
              <a:rPr lang="en-US" sz="2400" strike="noStrike" u="none">
                <a:solidFill>
                  <a:srgbClr val="000000"/>
                </a:solidFill>
                <a:latin typeface="Canva Sans"/>
                <a:ea typeface="Canva Sans"/>
                <a:cs typeface="Canva Sans"/>
                <a:sym typeface="Canva Sans"/>
              </a:rPr>
              <a:t>a</a:t>
            </a:r>
            <a:r>
              <a:rPr lang="en-US" sz="2400" strike="noStrike" u="none">
                <a:solidFill>
                  <a:srgbClr val="000000"/>
                </a:solidFill>
                <a:latin typeface="Canva Sans"/>
                <a:ea typeface="Canva Sans"/>
                <a:cs typeface="Canva Sans"/>
                <a:sym typeface="Canva Sans"/>
              </a:rPr>
              <a:t>tion</a:t>
            </a:r>
            <a:r>
              <a:rPr lang="en-US" sz="2400" strike="noStrike" u="none">
                <a:solidFill>
                  <a:srgbClr val="000000"/>
                </a:solidFill>
                <a:latin typeface="Canva Sans"/>
                <a:ea typeface="Canva Sans"/>
                <a:cs typeface="Canva Sans"/>
                <a:sym typeface="Canva Sans"/>
              </a:rPr>
              <a:t> </a:t>
            </a:r>
            <a:r>
              <a:rPr lang="en-US" sz="2400" strike="noStrike" u="none">
                <a:solidFill>
                  <a:srgbClr val="000000"/>
                </a:solidFill>
                <a:latin typeface="Canva Sans"/>
                <a:ea typeface="Canva Sans"/>
                <a:cs typeface="Canva Sans"/>
                <a:sym typeface="Canva Sans"/>
              </a:rPr>
              <a:t>p</a:t>
            </a:r>
            <a:r>
              <a:rPr lang="en-US" sz="2400" strike="noStrike" u="none">
                <a:solidFill>
                  <a:srgbClr val="000000"/>
                </a:solidFill>
                <a:latin typeface="Canva Sans"/>
                <a:ea typeface="Canva Sans"/>
                <a:cs typeface="Canva Sans"/>
                <a:sym typeface="Canva Sans"/>
              </a:rPr>
              <a:t>l</a:t>
            </a:r>
            <a:r>
              <a:rPr lang="en-US" sz="2400" strike="noStrike" u="none">
                <a:solidFill>
                  <a:srgbClr val="000000"/>
                </a:solidFill>
                <a:latin typeface="Canva Sans"/>
                <a:ea typeface="Canva Sans"/>
                <a:cs typeface="Canva Sans"/>
                <a:sym typeface="Canva Sans"/>
              </a:rPr>
              <a:t>ann</a:t>
            </a:r>
            <a:r>
              <a:rPr lang="en-US" sz="2400" strike="noStrike" u="none">
                <a:solidFill>
                  <a:srgbClr val="000000"/>
                </a:solidFill>
                <a:latin typeface="Canva Sans"/>
                <a:ea typeface="Canva Sans"/>
                <a:cs typeface="Canva Sans"/>
                <a:sym typeface="Canva Sans"/>
              </a:rPr>
              <a:t>i</a:t>
            </a:r>
            <a:r>
              <a:rPr lang="en-US" sz="2400" strike="noStrike" u="none">
                <a:solidFill>
                  <a:srgbClr val="000000"/>
                </a:solidFill>
                <a:latin typeface="Canva Sans"/>
                <a:ea typeface="Canva Sans"/>
                <a:cs typeface="Canva Sans"/>
                <a:sym typeface="Canva Sans"/>
              </a:rPr>
              <a:t>ng using seasonal forecas</a:t>
            </a:r>
            <a:r>
              <a:rPr lang="en-US" sz="2400" strike="noStrike" u="none">
                <a:solidFill>
                  <a:srgbClr val="000000"/>
                </a:solidFill>
                <a:latin typeface="Canva Sans"/>
                <a:ea typeface="Canva Sans"/>
                <a:cs typeface="Canva Sans"/>
                <a:sym typeface="Canva Sans"/>
              </a:rPr>
              <a:t>t</a:t>
            </a:r>
            <a:r>
              <a:rPr lang="en-US" sz="2400" strike="noStrike" u="none">
                <a:solidFill>
                  <a:srgbClr val="000000"/>
                </a:solidFill>
                <a:latin typeface="Canva Sans"/>
                <a:ea typeface="Canva Sans"/>
                <a:cs typeface="Canva Sans"/>
                <a:sym typeface="Canva Sans"/>
              </a:rPr>
              <a:t>s</a:t>
            </a:r>
          </a:p>
          <a:p>
            <a:pPr algn="just" marL="1036330" indent="-345443" lvl="2">
              <a:lnSpc>
                <a:spcPts val="3360"/>
              </a:lnSpc>
              <a:spcBef>
                <a:spcPct val="0"/>
              </a:spcBef>
              <a:buFont typeface="Arial"/>
              <a:buChar char="⚬"/>
            </a:pPr>
            <a:r>
              <a:rPr lang="en-US" sz="2400" strike="noStrike" u="none">
                <a:solidFill>
                  <a:srgbClr val="000000"/>
                </a:solidFill>
                <a:latin typeface="Canva Sans"/>
                <a:ea typeface="Canva Sans"/>
                <a:cs typeface="Canva Sans"/>
                <a:sym typeface="Canva Sans"/>
              </a:rPr>
              <a:t>Personalized models for specific crops and soil </a:t>
            </a:r>
            <a:r>
              <a:rPr lang="en-US" sz="2400" strike="noStrike" u="none">
                <a:solidFill>
                  <a:srgbClr val="000000"/>
                </a:solidFill>
                <a:latin typeface="Canva Sans"/>
                <a:ea typeface="Canva Sans"/>
                <a:cs typeface="Canva Sans"/>
                <a:sym typeface="Canva Sans"/>
              </a:rPr>
              <a:t>t</a:t>
            </a:r>
            <a:r>
              <a:rPr lang="en-US" sz="2400" strike="noStrike" u="none">
                <a:solidFill>
                  <a:srgbClr val="000000"/>
                </a:solidFill>
                <a:latin typeface="Canva Sans"/>
                <a:ea typeface="Canva Sans"/>
                <a:cs typeface="Canva Sans"/>
                <a:sym typeface="Canva Sans"/>
              </a:rPr>
              <a:t>ypes</a:t>
            </a:r>
          </a:p>
          <a:p>
            <a:pPr algn="just">
              <a:lnSpc>
                <a:spcPts val="3360"/>
              </a:lnSpc>
              <a:spcBef>
                <a:spcPct val="0"/>
              </a:spcBef>
            </a:pPr>
          </a:p>
          <a:p>
            <a:pPr algn="just" marL="518165" indent="-259082" lvl="1">
              <a:lnSpc>
                <a:spcPts val="3360"/>
              </a:lnSpc>
              <a:spcBef>
                <a:spcPct val="0"/>
              </a:spcBef>
              <a:buFont typeface="Arial"/>
              <a:buChar char="•"/>
            </a:pPr>
            <a:r>
              <a:rPr lang="en-US" sz="2400" strike="noStrike" u="none">
                <a:solidFill>
                  <a:srgbClr val="000000"/>
                </a:solidFill>
                <a:latin typeface="Canva Sans"/>
                <a:ea typeface="Canva Sans"/>
                <a:cs typeface="Canva Sans"/>
                <a:sym typeface="Canva Sans"/>
              </a:rPr>
              <a:t>Scalability &amp; Adoption</a:t>
            </a:r>
          </a:p>
          <a:p>
            <a:pPr algn="just" marL="1036330" indent="-345443" lvl="2">
              <a:lnSpc>
                <a:spcPts val="3360"/>
              </a:lnSpc>
              <a:spcBef>
                <a:spcPct val="0"/>
              </a:spcBef>
              <a:buFont typeface="Arial"/>
              <a:buChar char="⚬"/>
            </a:pPr>
            <a:r>
              <a:rPr lang="en-US" sz="2400" strike="noStrike" u="none">
                <a:solidFill>
                  <a:srgbClr val="000000"/>
                </a:solidFill>
                <a:latin typeface="Canva Sans"/>
                <a:ea typeface="Canva Sans"/>
                <a:cs typeface="Canva Sans"/>
                <a:sym typeface="Canva Sans"/>
              </a:rPr>
              <a:t>R</a:t>
            </a:r>
            <a:r>
              <a:rPr lang="en-US" sz="2400" strike="noStrike" u="none">
                <a:solidFill>
                  <a:srgbClr val="000000"/>
                </a:solidFill>
                <a:latin typeface="Canva Sans"/>
                <a:ea typeface="Canva Sans"/>
                <a:cs typeface="Canva Sans"/>
                <a:sym typeface="Canva Sans"/>
              </a:rPr>
              <a:t>e</a:t>
            </a:r>
            <a:r>
              <a:rPr lang="en-US" sz="2400" strike="noStrike" u="none">
                <a:solidFill>
                  <a:srgbClr val="000000"/>
                </a:solidFill>
                <a:latin typeface="Canva Sans"/>
                <a:ea typeface="Canva Sans"/>
                <a:cs typeface="Canva Sans"/>
                <a:sym typeface="Canva Sans"/>
              </a:rPr>
              <a:t>gional</a:t>
            </a:r>
            <a:r>
              <a:rPr lang="en-US" sz="2400" strike="noStrike" u="none">
                <a:solidFill>
                  <a:srgbClr val="000000"/>
                </a:solidFill>
                <a:latin typeface="Canva Sans"/>
                <a:ea typeface="Canva Sans"/>
                <a:cs typeface="Canva Sans"/>
                <a:sym typeface="Canva Sans"/>
              </a:rPr>
              <a:t> </a:t>
            </a:r>
            <a:r>
              <a:rPr lang="en-US" sz="2400" strike="noStrike" u="none">
                <a:solidFill>
                  <a:srgbClr val="000000"/>
                </a:solidFill>
                <a:latin typeface="Canva Sans"/>
                <a:ea typeface="Canva Sans"/>
                <a:cs typeface="Canva Sans"/>
                <a:sym typeface="Canva Sans"/>
              </a:rPr>
              <a:t>dash</a:t>
            </a:r>
            <a:r>
              <a:rPr lang="en-US" sz="2400" strike="noStrike" u="none">
                <a:solidFill>
                  <a:srgbClr val="000000"/>
                </a:solidFill>
                <a:latin typeface="Canva Sans"/>
                <a:ea typeface="Canva Sans"/>
                <a:cs typeface="Canva Sans"/>
                <a:sym typeface="Canva Sans"/>
              </a:rPr>
              <a:t>b</a:t>
            </a:r>
            <a:r>
              <a:rPr lang="en-US" sz="2400" strike="noStrike" u="none">
                <a:solidFill>
                  <a:srgbClr val="000000"/>
                </a:solidFill>
                <a:latin typeface="Canva Sans"/>
                <a:ea typeface="Canva Sans"/>
                <a:cs typeface="Canva Sans"/>
                <a:sym typeface="Canva Sans"/>
              </a:rPr>
              <a:t>oards for cooperat</a:t>
            </a:r>
            <a:r>
              <a:rPr lang="en-US" sz="2400" strike="noStrike" u="none">
                <a:solidFill>
                  <a:srgbClr val="000000"/>
                </a:solidFill>
                <a:latin typeface="Canva Sans"/>
                <a:ea typeface="Canva Sans"/>
                <a:cs typeface="Canva Sans"/>
                <a:sym typeface="Canva Sans"/>
              </a:rPr>
              <a:t>i</a:t>
            </a:r>
            <a:r>
              <a:rPr lang="en-US" sz="2400" strike="noStrike" u="none">
                <a:solidFill>
                  <a:srgbClr val="000000"/>
                </a:solidFill>
                <a:latin typeface="Canva Sans"/>
                <a:ea typeface="Canva Sans"/>
                <a:cs typeface="Canva Sans"/>
                <a:sym typeface="Canva Sans"/>
              </a:rPr>
              <a:t>ves and policymakers</a:t>
            </a:r>
          </a:p>
          <a:p>
            <a:pPr algn="just" marL="1036330" indent="-345443" lvl="2">
              <a:lnSpc>
                <a:spcPts val="3360"/>
              </a:lnSpc>
              <a:spcBef>
                <a:spcPct val="0"/>
              </a:spcBef>
              <a:buFont typeface="Arial"/>
              <a:buChar char="⚬"/>
            </a:pPr>
            <a:r>
              <a:rPr lang="en-US" sz="2400" strike="noStrike" u="none">
                <a:solidFill>
                  <a:srgbClr val="000000"/>
                </a:solidFill>
                <a:latin typeface="Canva Sans"/>
                <a:ea typeface="Canva Sans"/>
                <a:cs typeface="Canva Sans"/>
                <a:sym typeface="Canva Sans"/>
              </a:rPr>
              <a:t>Mul</a:t>
            </a:r>
            <a:r>
              <a:rPr lang="en-US" sz="2400" strike="noStrike" u="none">
                <a:solidFill>
                  <a:srgbClr val="000000"/>
                </a:solidFill>
                <a:latin typeface="Canva Sans"/>
                <a:ea typeface="Canva Sans"/>
                <a:cs typeface="Canva Sans"/>
                <a:sym typeface="Canva Sans"/>
              </a:rPr>
              <a:t>t</a:t>
            </a:r>
            <a:r>
              <a:rPr lang="en-US" sz="2400" strike="noStrike" u="none">
                <a:solidFill>
                  <a:srgbClr val="000000"/>
                </a:solidFill>
                <a:latin typeface="Canva Sans"/>
                <a:ea typeface="Canva Sans"/>
                <a:cs typeface="Canva Sans"/>
                <a:sym typeface="Canva Sans"/>
              </a:rPr>
              <a:t>ilingual</a:t>
            </a:r>
            <a:r>
              <a:rPr lang="en-US" sz="2400" strike="noStrike" u="none">
                <a:solidFill>
                  <a:srgbClr val="000000"/>
                </a:solidFill>
                <a:latin typeface="Canva Sans"/>
                <a:ea typeface="Canva Sans"/>
                <a:cs typeface="Canva Sans"/>
                <a:sym typeface="Canva Sans"/>
              </a:rPr>
              <a:t> </a:t>
            </a:r>
            <a:r>
              <a:rPr lang="en-US" sz="2400" strike="noStrike" u="none">
                <a:solidFill>
                  <a:srgbClr val="000000"/>
                </a:solidFill>
                <a:latin typeface="Canva Sans"/>
                <a:ea typeface="Canva Sans"/>
                <a:cs typeface="Canva Sans"/>
                <a:sym typeface="Canva Sans"/>
              </a:rPr>
              <a:t>supp</a:t>
            </a:r>
            <a:r>
              <a:rPr lang="en-US" sz="2400" strike="noStrike" u="none">
                <a:solidFill>
                  <a:srgbClr val="000000"/>
                </a:solidFill>
                <a:latin typeface="Canva Sans"/>
                <a:ea typeface="Canva Sans"/>
                <a:cs typeface="Canva Sans"/>
                <a:sym typeface="Canva Sans"/>
              </a:rPr>
              <a:t>o</a:t>
            </a:r>
            <a:r>
              <a:rPr lang="en-US" sz="2400" strike="noStrike" u="none">
                <a:solidFill>
                  <a:srgbClr val="000000"/>
                </a:solidFill>
                <a:latin typeface="Canva Sans"/>
                <a:ea typeface="Canva Sans"/>
                <a:cs typeface="Canva Sans"/>
                <a:sym typeface="Canva Sans"/>
              </a:rPr>
              <a:t>rt </a:t>
            </a:r>
            <a:r>
              <a:rPr lang="en-US" sz="2400" strike="noStrike" u="none">
                <a:solidFill>
                  <a:srgbClr val="000000"/>
                </a:solidFill>
                <a:latin typeface="Canva Sans"/>
                <a:ea typeface="Canva Sans"/>
                <a:cs typeface="Canva Sans"/>
                <a:sym typeface="Canva Sans"/>
              </a:rPr>
              <a:t>f</a:t>
            </a:r>
            <a:r>
              <a:rPr lang="en-US" sz="2400" strike="noStrike" u="none">
                <a:solidFill>
                  <a:srgbClr val="000000"/>
                </a:solidFill>
                <a:latin typeface="Canva Sans"/>
                <a:ea typeface="Canva Sans"/>
                <a:cs typeface="Canva Sans"/>
                <a:sym typeface="Canva Sans"/>
              </a:rPr>
              <a:t>or</a:t>
            </a:r>
            <a:r>
              <a:rPr lang="en-US" sz="2400" strike="noStrike" u="none">
                <a:solidFill>
                  <a:srgbClr val="000000"/>
                </a:solidFill>
                <a:latin typeface="Canva Sans"/>
                <a:ea typeface="Canva Sans"/>
                <a:cs typeface="Canva Sans"/>
                <a:sym typeface="Canva Sans"/>
              </a:rPr>
              <a:t> </a:t>
            </a:r>
            <a:r>
              <a:rPr lang="en-US" sz="2400" strike="noStrike" u="none">
                <a:solidFill>
                  <a:srgbClr val="000000"/>
                </a:solidFill>
                <a:latin typeface="Canva Sans"/>
                <a:ea typeface="Canva Sans"/>
                <a:cs typeface="Canva Sans"/>
                <a:sym typeface="Canva Sans"/>
              </a:rPr>
              <a:t>wider farmer accessibility</a:t>
            </a:r>
          </a:p>
          <a:p>
            <a:pPr algn="just">
              <a:lnSpc>
                <a:spcPts val="3360"/>
              </a:lnSpc>
              <a:spcBef>
                <a:spcPct val="0"/>
              </a:spcBef>
            </a:pPr>
          </a:p>
          <a:p>
            <a:pPr algn="just" marL="518165" indent="-259082" lvl="1">
              <a:lnSpc>
                <a:spcPts val="3360"/>
              </a:lnSpc>
              <a:spcBef>
                <a:spcPct val="0"/>
              </a:spcBef>
              <a:buFont typeface="Arial"/>
              <a:buChar char="•"/>
            </a:pPr>
            <a:r>
              <a:rPr lang="en-US" sz="2400" strike="noStrike" u="none">
                <a:solidFill>
                  <a:srgbClr val="000000"/>
                </a:solidFill>
                <a:latin typeface="Canva Sans"/>
                <a:ea typeface="Canva Sans"/>
                <a:cs typeface="Canva Sans"/>
                <a:sym typeface="Canva Sans"/>
              </a:rPr>
              <a:t>Sustainability Enhancements</a:t>
            </a:r>
          </a:p>
          <a:p>
            <a:pPr algn="just" marL="1036330" indent="-345443" lvl="2">
              <a:lnSpc>
                <a:spcPts val="3360"/>
              </a:lnSpc>
              <a:spcBef>
                <a:spcPct val="0"/>
              </a:spcBef>
              <a:buFont typeface="Arial"/>
              <a:buChar char="⚬"/>
            </a:pPr>
            <a:r>
              <a:rPr lang="en-US" sz="2400" strike="noStrike" u="none">
                <a:solidFill>
                  <a:srgbClr val="000000"/>
                </a:solidFill>
                <a:latin typeface="Canva Sans"/>
                <a:ea typeface="Canva Sans"/>
                <a:cs typeface="Canva Sans"/>
                <a:sym typeface="Canva Sans"/>
              </a:rPr>
              <a:t>Car</a:t>
            </a:r>
            <a:r>
              <a:rPr lang="en-US" sz="2400" strike="noStrike" u="none">
                <a:solidFill>
                  <a:srgbClr val="000000"/>
                </a:solidFill>
                <a:latin typeface="Canva Sans"/>
                <a:ea typeface="Canva Sans"/>
                <a:cs typeface="Canva Sans"/>
                <a:sym typeface="Canva Sans"/>
              </a:rPr>
              <a:t>bo</a:t>
            </a:r>
            <a:r>
              <a:rPr lang="en-US" sz="2400" strike="noStrike" u="none">
                <a:solidFill>
                  <a:srgbClr val="000000"/>
                </a:solidFill>
                <a:latin typeface="Canva Sans"/>
                <a:ea typeface="Canva Sans"/>
                <a:cs typeface="Canva Sans"/>
                <a:sym typeface="Canva Sans"/>
              </a:rPr>
              <a:t>n- an</a:t>
            </a:r>
            <a:r>
              <a:rPr lang="en-US" sz="2400" strike="noStrike" u="none">
                <a:solidFill>
                  <a:srgbClr val="000000"/>
                </a:solidFill>
                <a:latin typeface="Canva Sans"/>
                <a:ea typeface="Canva Sans"/>
                <a:cs typeface="Canva Sans"/>
                <a:sym typeface="Canva Sans"/>
              </a:rPr>
              <a:t>d</a:t>
            </a:r>
            <a:r>
              <a:rPr lang="en-US" sz="2400" strike="noStrike" u="none">
                <a:solidFill>
                  <a:srgbClr val="000000"/>
                </a:solidFill>
                <a:latin typeface="Canva Sans"/>
                <a:ea typeface="Canva Sans"/>
                <a:cs typeface="Canva Sans"/>
                <a:sym typeface="Canva Sans"/>
              </a:rPr>
              <a:t> water-footprint</a:t>
            </a:r>
            <a:r>
              <a:rPr lang="en-US" sz="2400" strike="noStrike" u="none">
                <a:solidFill>
                  <a:srgbClr val="000000"/>
                </a:solidFill>
                <a:latin typeface="Canva Sans"/>
                <a:ea typeface="Canva Sans"/>
                <a:cs typeface="Canva Sans"/>
                <a:sym typeface="Canva Sans"/>
              </a:rPr>
              <a:t> </a:t>
            </a:r>
            <a:r>
              <a:rPr lang="en-US" sz="2400" strike="noStrike" u="none">
                <a:solidFill>
                  <a:srgbClr val="000000"/>
                </a:solidFill>
                <a:latin typeface="Canva Sans"/>
                <a:ea typeface="Canva Sans"/>
                <a:cs typeface="Canva Sans"/>
                <a:sym typeface="Canva Sans"/>
              </a:rPr>
              <a:t>tracking</a:t>
            </a:r>
          </a:p>
          <a:p>
            <a:pPr algn="just" marL="1036330" indent="-345443" lvl="2">
              <a:lnSpc>
                <a:spcPts val="3360"/>
              </a:lnSpc>
              <a:spcBef>
                <a:spcPct val="0"/>
              </a:spcBef>
              <a:buFont typeface="Arial"/>
              <a:buChar char="⚬"/>
            </a:pPr>
            <a:r>
              <a:rPr lang="en-US" sz="2400" strike="noStrike" u="none">
                <a:solidFill>
                  <a:srgbClr val="000000"/>
                </a:solidFill>
                <a:latin typeface="Canva Sans"/>
                <a:ea typeface="Canva Sans"/>
                <a:cs typeface="Canva Sans"/>
                <a:sym typeface="Canva Sans"/>
              </a:rPr>
              <a:t>Alignment with clima</a:t>
            </a:r>
            <a:r>
              <a:rPr lang="en-US" sz="2400" strike="noStrike" u="none">
                <a:solidFill>
                  <a:srgbClr val="000000"/>
                </a:solidFill>
                <a:latin typeface="Canva Sans"/>
                <a:ea typeface="Canva Sans"/>
                <a:cs typeface="Canva Sans"/>
                <a:sym typeface="Canva Sans"/>
              </a:rPr>
              <a:t>te</a:t>
            </a:r>
            <a:r>
              <a:rPr lang="en-US" sz="2400" strike="noStrike" u="none">
                <a:solidFill>
                  <a:srgbClr val="000000"/>
                </a:solidFill>
                <a:latin typeface="Canva Sans"/>
                <a:ea typeface="Canva Sans"/>
                <a:cs typeface="Canva Sans"/>
                <a:sym typeface="Canva Sans"/>
              </a:rPr>
              <a:t>-resilient farming prac</a:t>
            </a:r>
            <a:r>
              <a:rPr lang="en-US" sz="2400" strike="noStrike" u="none">
                <a:solidFill>
                  <a:srgbClr val="000000"/>
                </a:solidFill>
                <a:latin typeface="Canva Sans"/>
                <a:ea typeface="Canva Sans"/>
                <a:cs typeface="Canva Sans"/>
                <a:sym typeface="Canva Sans"/>
              </a:rPr>
              <a:t>t</a:t>
            </a:r>
            <a:r>
              <a:rPr lang="en-US" sz="2400" strike="noStrike" u="none">
                <a:solidFill>
                  <a:srgbClr val="000000"/>
                </a:solidFill>
                <a:latin typeface="Canva Sans"/>
                <a:ea typeface="Canva Sans"/>
                <a:cs typeface="Canva Sans"/>
                <a:sym typeface="Canva Sans"/>
              </a:rPr>
              <a:t>ices</a:t>
            </a:r>
          </a:p>
          <a:p>
            <a:pPr algn="just" marL="0" indent="0" lvl="0">
              <a:lnSpc>
                <a:spcPts val="336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28086" y="259623"/>
            <a:ext cx="9666742" cy="1427502"/>
          </a:xfrm>
          <a:prstGeom prst="rect">
            <a:avLst/>
          </a:prstGeom>
        </p:spPr>
        <p:txBody>
          <a:bodyPr anchor="t" rtlCol="false" tIns="0" lIns="0" bIns="0" rIns="0">
            <a:spAutoFit/>
          </a:bodyPr>
          <a:lstStyle/>
          <a:p>
            <a:pPr algn="l">
              <a:lnSpc>
                <a:spcPts val="9899"/>
              </a:lnSpc>
            </a:pPr>
            <a:r>
              <a:rPr lang="en-US" b="true" sz="5250">
                <a:solidFill>
                  <a:srgbClr val="051D3A"/>
                </a:solidFill>
                <a:latin typeface="Times New Roman Bold"/>
                <a:ea typeface="Times New Roman Bold"/>
                <a:cs typeface="Times New Roman Bold"/>
                <a:sym typeface="Times New Roman Bold"/>
              </a:rPr>
              <a:t>Git Hub Link</a:t>
            </a:r>
          </a:p>
        </p:txBody>
      </p:sp>
      <p:grpSp>
        <p:nvGrpSpPr>
          <p:cNvPr name="Group 3" id="3"/>
          <p:cNvGrpSpPr/>
          <p:nvPr/>
        </p:nvGrpSpPr>
        <p:grpSpPr>
          <a:xfrm rot="0">
            <a:off x="539252" y="9483935"/>
            <a:ext cx="17245047" cy="454421"/>
            <a:chOff x="0" y="0"/>
            <a:chExt cx="23532577" cy="620103"/>
          </a:xfrm>
        </p:grpSpPr>
        <p:sp>
          <p:nvSpPr>
            <p:cNvPr name="Freeform 4" id="4"/>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3"/>
              <a:stretch>
                <a:fillRect l="0" t="-264" r="0" b="-258"/>
              </a:stretch>
            </a:blipFill>
          </p:spPr>
        </p:sp>
      </p:grpSp>
      <p:sp>
        <p:nvSpPr>
          <p:cNvPr name="TextBox 5" id="5"/>
          <p:cNvSpPr txBox="true"/>
          <p:nvPr/>
        </p:nvSpPr>
        <p:spPr>
          <a:xfrm rot="0">
            <a:off x="1200243" y="2013818"/>
            <a:ext cx="15887513" cy="396240"/>
          </a:xfrm>
          <a:prstGeom prst="rect">
            <a:avLst/>
          </a:prstGeom>
        </p:spPr>
        <p:txBody>
          <a:bodyPr anchor="t" rtlCol="false" tIns="0" lIns="0" bIns="0" rIns="0">
            <a:spAutoFit/>
          </a:bodyPr>
          <a:lstStyle/>
          <a:p>
            <a:pPr algn="ctr" marL="0" indent="0" lvl="0">
              <a:lnSpc>
                <a:spcPts val="3359"/>
              </a:lnSpc>
              <a:spcBef>
                <a:spcPct val="0"/>
              </a:spcBef>
            </a:pPr>
            <a:r>
              <a:rPr lang="en-US" sz="2400" u="sng">
                <a:solidFill>
                  <a:srgbClr val="000000"/>
                </a:solidFill>
                <a:latin typeface="Canva Sans"/>
                <a:ea typeface="Canva Sans"/>
                <a:cs typeface="Canva Sans"/>
                <a:sym typeface="Canva Sans"/>
                <a:hlinkClick r:id="rId4" tooltip="https://github.com/Shreeharshahegde0203/AI-Assisted-Precision-Irrigation-Monitoring-System"/>
              </a:rPr>
              <a:t>https://github.com/Shreeharshahegde0203/AI-Assisted-Precision-Irrigation-Monitoring-System</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733425"/>
            <a:ext cx="9666742" cy="929645"/>
          </a:xfrm>
          <a:prstGeom prst="rect">
            <a:avLst/>
          </a:prstGeom>
        </p:spPr>
        <p:txBody>
          <a:bodyPr anchor="t" rtlCol="false" tIns="0" lIns="0" bIns="0" rIns="0">
            <a:spAutoFit/>
          </a:bodyPr>
          <a:lstStyle/>
          <a:p>
            <a:pPr algn="l">
              <a:lnSpc>
                <a:spcPts val="7919"/>
              </a:lnSpc>
            </a:pPr>
            <a:r>
              <a:rPr lang="en-US" sz="4200" b="true">
                <a:solidFill>
                  <a:srgbClr val="051D3A"/>
                </a:solidFill>
                <a:latin typeface="Times New Roman Bold"/>
                <a:ea typeface="Times New Roman Bold"/>
                <a:cs typeface="Times New Roman Bold"/>
                <a:sym typeface="Times New Roman Bold"/>
              </a:rPr>
              <a:t>References </a:t>
            </a:r>
          </a:p>
        </p:txBody>
      </p:sp>
      <p:grpSp>
        <p:nvGrpSpPr>
          <p:cNvPr name="Group 3" id="3"/>
          <p:cNvGrpSpPr/>
          <p:nvPr/>
        </p:nvGrpSpPr>
        <p:grpSpPr>
          <a:xfrm rot="0">
            <a:off x="539252" y="9483935"/>
            <a:ext cx="17245047" cy="454421"/>
            <a:chOff x="0" y="0"/>
            <a:chExt cx="23532577" cy="620103"/>
          </a:xfrm>
        </p:grpSpPr>
        <p:sp>
          <p:nvSpPr>
            <p:cNvPr name="Freeform 4" id="4"/>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3"/>
              <a:stretch>
                <a:fillRect l="0" t="-264" r="0" b="-258"/>
              </a:stretch>
            </a:blipFill>
          </p:spPr>
        </p:sp>
      </p:grpSp>
      <p:sp>
        <p:nvSpPr>
          <p:cNvPr name="TextBox 5" id="5"/>
          <p:cNvSpPr txBox="true"/>
          <p:nvPr/>
        </p:nvSpPr>
        <p:spPr>
          <a:xfrm rot="0">
            <a:off x="1028700" y="1833632"/>
            <a:ext cx="14854120" cy="4789170"/>
          </a:xfrm>
          <a:prstGeom prst="rect">
            <a:avLst/>
          </a:prstGeom>
        </p:spPr>
        <p:txBody>
          <a:bodyPr anchor="t" rtlCol="false" tIns="0" lIns="0" bIns="0" rIns="0">
            <a:spAutoFit/>
          </a:bodyPr>
          <a:lstStyle/>
          <a:p>
            <a:pPr algn="l">
              <a:lnSpc>
                <a:spcPts val="3150"/>
              </a:lnSpc>
            </a:pPr>
            <a:r>
              <a:rPr lang="en-US" sz="1800">
                <a:solidFill>
                  <a:srgbClr val="051D3A"/>
                </a:solidFill>
                <a:latin typeface="Times New Roman"/>
                <a:ea typeface="Times New Roman"/>
                <a:cs typeface="Times New Roman"/>
                <a:sym typeface="Times New Roman"/>
              </a:rPr>
              <a:t>1. Central Soil Salinity Research Institute – Irrigation Best Practices </a:t>
            </a:r>
            <a:r>
              <a:rPr lang="en-US" sz="1800">
                <a:solidFill>
                  <a:srgbClr val="051D3A"/>
                </a:solidFill>
                <a:latin typeface="Times New Roman"/>
                <a:ea typeface="Times New Roman"/>
                <a:cs typeface="Times New Roman"/>
                <a:sym typeface="Times New Roman"/>
              </a:rPr>
              <a:t>https://www.cssri.res.in/irrigation-management/</a:t>
            </a:r>
          </a:p>
          <a:p>
            <a:pPr algn="l">
              <a:lnSpc>
                <a:spcPts val="3150"/>
              </a:lnSpc>
            </a:pPr>
            <a:r>
              <a:rPr lang="en-US" sz="1800">
                <a:solidFill>
                  <a:srgbClr val="051D3A"/>
                </a:solidFill>
                <a:latin typeface="Times New Roman"/>
                <a:ea typeface="Times New Roman"/>
                <a:cs typeface="Times New Roman"/>
                <a:sym typeface="Times New Roman"/>
              </a:rPr>
              <a:t>2. Indian Council of Agricultural Research (ICAR) – Precision Farming https://icar.org.in/content/precision-farming</a:t>
            </a:r>
          </a:p>
          <a:p>
            <a:pPr algn="l">
              <a:lnSpc>
                <a:spcPts val="3150"/>
              </a:lnSpc>
            </a:pPr>
            <a:r>
              <a:rPr lang="en-US" sz="1800">
                <a:solidFill>
                  <a:srgbClr val="051D3A"/>
                </a:solidFill>
                <a:latin typeface="Times New Roman"/>
                <a:ea typeface="Times New Roman"/>
                <a:cs typeface="Times New Roman"/>
                <a:sym typeface="Times New Roman"/>
              </a:rPr>
              <a:t>3. Ministry of Jal Shakti – National Water Mission </a:t>
            </a:r>
            <a:r>
              <a:rPr lang="en-US" sz="1800" u="sng">
                <a:solidFill>
                  <a:srgbClr val="051D3A"/>
                </a:solidFill>
                <a:latin typeface="Times New Roman"/>
                <a:ea typeface="Times New Roman"/>
                <a:cs typeface="Times New Roman"/>
                <a:sym typeface="Times New Roman"/>
                <a:hlinkClick r:id="rId4" tooltip="https://nwm.gov.in"/>
              </a:rPr>
              <a:t>https://nwm.gov.in/</a:t>
            </a:r>
          </a:p>
          <a:p>
            <a:pPr algn="l">
              <a:lnSpc>
                <a:spcPts val="3150"/>
              </a:lnSpc>
            </a:pPr>
            <a:r>
              <a:rPr lang="en-US" sz="1800">
                <a:solidFill>
                  <a:srgbClr val="051D3A"/>
                </a:solidFill>
                <a:latin typeface="Times New Roman"/>
                <a:ea typeface="Times New Roman"/>
                <a:cs typeface="Times New Roman"/>
                <a:sym typeface="Times New Roman"/>
              </a:rPr>
              <a:t>4. Central Water Commission – Water Management Manuals </a:t>
            </a:r>
            <a:r>
              <a:rPr lang="en-US" sz="1800" u="sng">
                <a:solidFill>
                  <a:srgbClr val="051D3A"/>
                </a:solidFill>
                <a:latin typeface="Times New Roman"/>
                <a:ea typeface="Times New Roman"/>
                <a:cs typeface="Times New Roman"/>
                <a:sym typeface="Times New Roman"/>
                <a:hlinkClick r:id="rId5" tooltip="https://cwc.gov.in"/>
              </a:rPr>
              <a:t>https://cwc.gov.in/</a:t>
            </a:r>
          </a:p>
          <a:p>
            <a:pPr algn="l">
              <a:lnSpc>
                <a:spcPts val="3150"/>
              </a:lnSpc>
            </a:pPr>
            <a:r>
              <a:rPr lang="en-US" sz="1800">
                <a:solidFill>
                  <a:srgbClr val="051D3A"/>
                </a:solidFill>
                <a:latin typeface="Times New Roman"/>
                <a:ea typeface="Times New Roman"/>
                <a:cs typeface="Times New Roman"/>
                <a:sym typeface="Times New Roman"/>
              </a:rPr>
              <a:t>5. CRIDA (Central Research Institute for Dryland Agriculture) – Soil &amp; Water Management https://crida.in/soil-water-management/</a:t>
            </a:r>
          </a:p>
          <a:p>
            <a:pPr algn="l">
              <a:lnSpc>
                <a:spcPts val="3150"/>
              </a:lnSpc>
            </a:pPr>
            <a:r>
              <a:rPr lang="en-US" sz="1800">
                <a:solidFill>
                  <a:srgbClr val="051D3A"/>
                </a:solidFill>
                <a:latin typeface="Times New Roman"/>
                <a:ea typeface="Times New Roman"/>
                <a:cs typeface="Times New Roman"/>
                <a:sym typeface="Times New Roman"/>
              </a:rPr>
              <a:t>6. NABARD – Water Use Efficiency Reports https://www.nabard.org/content1.aspx?id=592&amp;param=page</a:t>
            </a:r>
          </a:p>
          <a:p>
            <a:pPr algn="l">
              <a:lnSpc>
                <a:spcPts val="3150"/>
              </a:lnSpc>
            </a:pPr>
            <a:r>
              <a:rPr lang="en-US" sz="1800">
                <a:solidFill>
                  <a:srgbClr val="051D3A"/>
                </a:solidFill>
                <a:latin typeface="Times New Roman"/>
                <a:ea typeface="Times New Roman"/>
                <a:cs typeface="Times New Roman"/>
                <a:sym typeface="Times New Roman"/>
              </a:rPr>
              <a:t>7. Ministry of Agriculture &amp; Farmers Welfare – Package of Practices https://agricoop.nic.in/en/PackageOfPractices</a:t>
            </a:r>
          </a:p>
          <a:p>
            <a:pPr algn="l">
              <a:lnSpc>
                <a:spcPts val="3150"/>
              </a:lnSpc>
            </a:pPr>
            <a:r>
              <a:rPr lang="en-US" sz="1800">
                <a:solidFill>
                  <a:srgbClr val="051D3A"/>
                </a:solidFill>
                <a:latin typeface="Times New Roman"/>
                <a:ea typeface="Times New Roman"/>
                <a:cs typeface="Times New Roman"/>
                <a:sym typeface="Times New Roman"/>
              </a:rPr>
              <a:t>8. India Meteorological Department (IMD) – Weather Data &amp; Alerts </a:t>
            </a:r>
            <a:r>
              <a:rPr lang="en-US" sz="1800" u="sng">
                <a:solidFill>
                  <a:srgbClr val="051D3A"/>
                </a:solidFill>
                <a:latin typeface="Times New Roman"/>
                <a:ea typeface="Times New Roman"/>
                <a:cs typeface="Times New Roman"/>
                <a:sym typeface="Times New Roman"/>
                <a:hlinkClick r:id="rId6" tooltip="https://mausam.imd.gov.in"/>
              </a:rPr>
              <a:t>https://mausam.imd.gov.in/</a:t>
            </a:r>
          </a:p>
          <a:p>
            <a:pPr algn="l">
              <a:lnSpc>
                <a:spcPts val="3150"/>
              </a:lnSpc>
            </a:pPr>
            <a:r>
              <a:rPr lang="en-US" sz="1800">
                <a:solidFill>
                  <a:srgbClr val="051D3A"/>
                </a:solidFill>
                <a:latin typeface="Times New Roman"/>
                <a:ea typeface="Times New Roman"/>
                <a:cs typeface="Times New Roman"/>
                <a:sym typeface="Times New Roman"/>
              </a:rPr>
              <a:t>9. CWC-IWR (Central Water Commission – Integrated Water Resources) https://cwc.gov.in/water-resources</a:t>
            </a:r>
          </a:p>
          <a:p>
            <a:pPr algn="l">
              <a:lnSpc>
                <a:spcPts val="3150"/>
              </a:lnSpc>
            </a:pPr>
            <a:r>
              <a:rPr lang="en-US" sz="1800">
                <a:solidFill>
                  <a:srgbClr val="051D3A"/>
                </a:solidFill>
                <a:latin typeface="Times New Roman"/>
                <a:ea typeface="Times New Roman"/>
                <a:cs typeface="Times New Roman"/>
                <a:sym typeface="Times New Roman"/>
              </a:rPr>
              <a:t>10. Watershed India – Sustainable Irrigation &amp; Water Use </a:t>
            </a:r>
            <a:r>
              <a:rPr lang="en-US" sz="1800" u="sng">
                <a:solidFill>
                  <a:srgbClr val="051D3A"/>
                </a:solidFill>
                <a:latin typeface="Times New Roman"/>
                <a:ea typeface="Times New Roman"/>
                <a:cs typeface="Times New Roman"/>
                <a:sym typeface="Times New Roman"/>
                <a:hlinkClick r:id="rId7" tooltip="https://www.watershedindia.org"/>
              </a:rPr>
              <a:t>FAO — Irrigation and Water Management https://www.fao.org/land-water/water/water-management/irrigation/en/</a:t>
            </a:r>
          </a:p>
          <a:p>
            <a:pPr algn="l">
              <a:lnSpc>
                <a:spcPts val="3150"/>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285449"/>
            <a:ext cx="18288000" cy="3716093"/>
            <a:chOff x="0" y="0"/>
            <a:chExt cx="24384000" cy="4954791"/>
          </a:xfrm>
        </p:grpSpPr>
        <p:sp>
          <p:nvSpPr>
            <p:cNvPr name="Freeform 3" id="3"/>
            <p:cNvSpPr/>
            <p:nvPr/>
          </p:nvSpPr>
          <p:spPr>
            <a:xfrm flipH="false" flipV="false" rot="0">
              <a:off x="0" y="0"/>
              <a:ext cx="24384000" cy="4954778"/>
            </a:xfrm>
            <a:custGeom>
              <a:avLst/>
              <a:gdLst/>
              <a:ahLst/>
              <a:cxnLst/>
              <a:rect r="r" b="b" t="t" l="l"/>
              <a:pathLst>
                <a:path h="4954778" w="24384000">
                  <a:moveTo>
                    <a:pt x="0" y="0"/>
                  </a:moveTo>
                  <a:lnTo>
                    <a:pt x="24384000" y="0"/>
                  </a:lnTo>
                  <a:lnTo>
                    <a:pt x="24384000" y="4954778"/>
                  </a:lnTo>
                  <a:lnTo>
                    <a:pt x="0" y="4954778"/>
                  </a:lnTo>
                  <a:lnTo>
                    <a:pt x="0" y="0"/>
                  </a:lnTo>
                  <a:close/>
                </a:path>
              </a:pathLst>
            </a:custGeom>
            <a:blipFill>
              <a:blip r:embed="rId3"/>
              <a:stretch>
                <a:fillRect l="0" t="0" r="0" b="0"/>
              </a:stretch>
            </a:blipFill>
          </p:spPr>
        </p:sp>
      </p:grpSp>
      <p:grpSp>
        <p:nvGrpSpPr>
          <p:cNvPr name="Group 4" id="4"/>
          <p:cNvGrpSpPr/>
          <p:nvPr/>
        </p:nvGrpSpPr>
        <p:grpSpPr>
          <a:xfrm rot="0">
            <a:off x="539252" y="9483935"/>
            <a:ext cx="17245047" cy="454421"/>
            <a:chOff x="0" y="0"/>
            <a:chExt cx="23532577" cy="620103"/>
          </a:xfrm>
        </p:grpSpPr>
        <p:sp>
          <p:nvSpPr>
            <p:cNvPr name="Freeform 5" id="5"/>
            <p:cNvSpPr/>
            <p:nvPr/>
          </p:nvSpPr>
          <p:spPr>
            <a:xfrm flipH="false" flipV="false" rot="0">
              <a:off x="0" y="0"/>
              <a:ext cx="23532615" cy="620141"/>
            </a:xfrm>
            <a:custGeom>
              <a:avLst/>
              <a:gdLst/>
              <a:ahLst/>
              <a:cxnLst/>
              <a:rect r="r" b="b" t="t" l="l"/>
              <a:pathLst>
                <a:path h="620141" w="23532615">
                  <a:moveTo>
                    <a:pt x="0" y="0"/>
                  </a:moveTo>
                  <a:lnTo>
                    <a:pt x="23532615" y="0"/>
                  </a:lnTo>
                  <a:lnTo>
                    <a:pt x="23532615" y="620141"/>
                  </a:lnTo>
                  <a:lnTo>
                    <a:pt x="0" y="620141"/>
                  </a:lnTo>
                  <a:lnTo>
                    <a:pt x="0" y="0"/>
                  </a:lnTo>
                  <a:close/>
                </a:path>
              </a:pathLst>
            </a:custGeom>
            <a:blipFill>
              <a:blip r:embed="rId4"/>
              <a:stretch>
                <a:fillRect l="0" t="-264" r="0" b="-258"/>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DAG_2RQLpsQ</dc:identifier>
  <dcterms:modified xsi:type="dcterms:W3CDTF">2011-08-01T06:04:30Z</dcterms:modified>
  <cp:revision>1</cp:revision>
  <dc:title>Hackthon Project Presentation Template.pptx</dc:title>
</cp:coreProperties>
</file>